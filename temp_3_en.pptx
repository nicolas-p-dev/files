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f17788e32a0487d" /><Relationship Type="http://schemas.openxmlformats.org/officeDocument/2006/relationships/extended-properties" Target="/docProps/app.xml" Id="R59e73e19d5744d94" /><Relationship Type="http://schemas.openxmlformats.org/officeDocument/2006/relationships/officeDocument" Target="/ppt/presentation.xml" Id="Rb9849b696bb24998" /></Relationships>
</file>

<file path=ppt/presentation.xml><?xml version="1.0" encoding="utf-8"?>
<p:presentation xmlns:p="http://schemas.openxmlformats.org/presentationml/2006/main">
  <p:sldMasterIdLst>
    <p:sldMasterId xmlns:r="http://schemas.openxmlformats.org/officeDocument/2006/relationships" id="2147483648" r:id="R82a9bc4b16fb4a6b"/>
  </p:sldMasterIdLst>
  <p:notesMasterIdLst>
    <p:notesMasterId xmlns:r="http://schemas.openxmlformats.org/officeDocument/2006/relationships" r:id="R41566f38aa394cfc"/>
  </p:notesMasterIdLst>
  <p:sldIdLst>
    <p:sldId xmlns:r="http://schemas.openxmlformats.org/officeDocument/2006/relationships" id="256" r:id="R30d01c8256c94ea4"/>
    <p:sldId xmlns:r="http://schemas.openxmlformats.org/officeDocument/2006/relationships" id="257" r:id="R18bdac7217c647b1"/>
    <p:sldId xmlns:r="http://schemas.openxmlformats.org/officeDocument/2006/relationships" id="258" r:id="R54cf260f8da543c9"/>
    <p:sldId xmlns:r="http://schemas.openxmlformats.org/officeDocument/2006/relationships" id="259" r:id="R99a53952efe946c3"/>
    <p:sldId xmlns:r="http://schemas.openxmlformats.org/officeDocument/2006/relationships" id="260" r:id="R1bbdbee071ab472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d26d62f568248e1" /><Relationship Type="http://schemas.openxmlformats.org/officeDocument/2006/relationships/slideMaster" Target="/ppt/slideMasters/slideMaster1.xml" Id="R82a9bc4b16fb4a6b" /><Relationship Type="http://schemas.openxmlformats.org/officeDocument/2006/relationships/notesMaster" Target="/ppt/notesMasters/notesMaster1.xml" Id="R41566f38aa394cfc" /><Relationship Type="http://schemas.openxmlformats.org/officeDocument/2006/relationships/presProps" Target="/ppt/presProps.xml" Id="Rd7b7f9d94a3e4361" /><Relationship Type="http://schemas.openxmlformats.org/officeDocument/2006/relationships/tableStyles" Target="/ppt/tableStyles.xml" Id="R3a5f0ab006f6427a" /><Relationship Type="http://schemas.openxmlformats.org/officeDocument/2006/relationships/slide" Target="/ppt/slides/slide1.xml" Id="R30d01c8256c94ea4" /><Relationship Type="http://schemas.openxmlformats.org/officeDocument/2006/relationships/slide" Target="/ppt/slides/slide2.xml" Id="R18bdac7217c647b1" /><Relationship Type="http://schemas.openxmlformats.org/officeDocument/2006/relationships/slide" Target="/ppt/slides/slide3.xml" Id="R54cf260f8da543c9" /><Relationship Type="http://schemas.openxmlformats.org/officeDocument/2006/relationships/slide" Target="/ppt/slides/slide4.xml" Id="R99a53952efe946c3" /><Relationship Type="http://schemas.openxmlformats.org/officeDocument/2006/relationships/slide" Target="/ppt/slides/slide5.xml" Id="R1bbdbee071ab47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5cb236cf689477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aiichi RFP">
      <a:dk1>
        <a:srgbClr val="171717"/>
      </a:dk1>
      <a:lt1>
        <a:srgbClr val="FFFFFF"/>
      </a:lt1>
      <a:dk2>
        <a:srgbClr val="565A5C"/>
      </a:dk2>
      <a:lt2>
        <a:srgbClr val="F4F5F3"/>
      </a:lt2>
      <a:accent1>
        <a:srgbClr val="86BC25"/>
      </a:accent1>
      <a:accent2>
        <a:srgbClr val="436C10"/>
      </a:accent2>
      <a:accent3>
        <a:srgbClr val="707B65"/>
      </a:accent3>
      <a:accent4>
        <a:srgbClr val="D8E8C0"/>
      </a:accent4>
      <a:accent5>
        <a:srgbClr val="55595C"/>
      </a:accent5>
      <a:accent6>
        <a:srgbClr val="B9C5AD"/>
      </a:accent6>
      <a:hlink>
        <a:srgbClr val="436C10"/>
      </a:hlink>
      <a:folHlink>
        <a:srgbClr val="436C10"/>
      </a:folHlink>
    </a:clrScheme>
    <a:fontScheme name="Office">
      <a:majorFont>
        <a:latin typeface="Calibri Light"/>
        <a:ea typeface="Calibri Light"/>
        <a:cs typeface="Calibri Light"/>
      </a:majorFont>
      <a:minorFont>
        <a:latin typeface="Calibri"/>
        <a:ea typeface="Calibri"/>
        <a:cs typeface="Calibri"/>
      </a:minorFont>
    </a:fontScheme>
    <a:fmtScheme name="Daiichi RF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d06aa59f12a4a4a" /><Relationship Type="http://schemas.openxmlformats.org/officeDocument/2006/relationships/notesMaster" Target="/ppt/notesMasters/notesMaster1.xml" Id="Rd40936078481441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8d1c419a74542c2" /><Relationship Type="http://schemas.openxmlformats.org/officeDocument/2006/relationships/notesMaster" Target="/ppt/notesMasters/notesMaster1.xml" Id="R02f78bc8c6ac4634" /></Relationships>
</file>

<file path=ppt/notesSlides/_rels/notesSlide3.xml.rels>&#65279;<?xml version="1.0" encoding="utf-8"?><Relationships xmlns="http://schemas.openxmlformats.org/package/2006/relationships"><Relationship Type="http://schemas.openxmlformats.org/officeDocument/2006/relationships/slide" Target="/ppt/slides/slide3.xml" Id="R5a31b6fbbbec485f" /><Relationship Type="http://schemas.openxmlformats.org/officeDocument/2006/relationships/notesMaster" Target="/ppt/notesMasters/notesMaster1.xml" Id="R59e3c6a0f9154a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7506f6ac2b3441b1" /><Relationship Type="http://schemas.openxmlformats.org/officeDocument/2006/relationships/notesMaster" Target="/ppt/notesMasters/notesMaster1.xml" Id="R61b60781476c499c" /></Relationships>
</file>

<file path=ppt/notesSlides/_rels/notesSlide5.xml.rels>&#65279;<?xml version="1.0" encoding="utf-8"?><Relationships xmlns="http://schemas.openxmlformats.org/package/2006/relationships"><Relationship Type="http://schemas.openxmlformats.org/officeDocument/2006/relationships/slide" Target="/ppt/slides/slide5.xml" Id="R6630d8fa460145d1" /><Relationship Type="http://schemas.openxmlformats.org/officeDocument/2006/relationships/notesMaster" Target="/ppt/notesMasters/notesMaster1.xml" Id="Rb1cfdacbc498434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slide shows the proposed pilot set-up for option B. It does not describe confirmed features of an existing Deloitte platform. The specific model and hardware choice is made during discovery.</a:t>
            </a:r>
          </a:p>
          <a:p xmlns:a="http://schemas.openxmlformats.org/drawingml/2006/main">
            <a:r>
              <a:t/>
            </a:r>
          </a:p>
          <a:p xmlns:a="http://schemas.openxmlformats.org/drawingml/2006/main">
            <a:r>
              <a:t>Source pages hold the converted documents; curated pages bring together information from several sources. A Python wiki service creates and updates drafts within a limited set of page types. Domain owners review content and evidence. Docusaurus renders approved content, and a lightweight editorial workflow alongside it handles proposal and approval, so business users never have to work with Git branches.</a:t>
            </a:r>
          </a:p>
          <a:p xmlns:a="http://schemas.openxmlformats.org/drawingml/2006/main">
            <a:r>
              <a:t/>
            </a:r>
          </a:p>
          <a:p xmlns:a="http://schemas.openxmlformats.org/drawingml/2006/main">
            <a:r>
              <a:t>Microsoft Graph ingests SharePoint content. For the PoC, an approved set of files can be supplied instead. Docling converts them to Markdown. Machine-managed sources and editorial pages stay separate. Ingestion never overwrites curated pages. IDs, source revisions, metadata and review status follow a validated project schema.</a:t>
            </a:r>
          </a:p>
          <a:p xmlns:a="http://schemas.openxmlformats.org/drawingml/2006/main">
            <a:r>
              <a:t/>
            </a:r>
          </a:p>
          <a:p xmlns:a="http://schemas.openxmlformats.org/drawingml/2006/main">
            <a:r>
              <a:t>Graphwise processes the same normalised source documents in parallel. Deloitte writes accepted tags and entity references into a reserved Markdown metadata section under controlled conditions. Graphwise needs no direct write access to Git. The graph also supplies semantic context to the wiki service and, at runtime, to the Knowledge API.</a:t>
            </a:r>
          </a:p>
          <a:p xmlns:a="http://schemas.openxmlformats.org/drawingml/2006/main">
            <a:r>
              <a:t/>
            </a:r>
          </a:p>
          <a:p xmlns:a="http://schemas.openxmlformats.org/drawingml/2006/main">
            <a:r>
              <a:t>PostgreSQL full-text search and pgvector form a single retrieval service for the pilot. Source pages and approved curated pages are split along headings and paragraphs into passages that can be cited. Affected passages are refreshed after a change, while ACL-only changes require no new embedding. Curated pages receive no blanket precedence over a better source result. OpenSearch remains a possible alternative but is not planned in addition.</a:t>
            </a:r>
          </a:p>
          <a:p xmlns:a="http://schemas.openxmlformats.org/drawingml/2006/main">
            <a:r>
              <a:t/>
            </a:r>
          </a:p>
          <a:p xmlns:a="http://schemas.openxmlformats.org/drawingml/2006/main">
            <a:r>
              <a:t>FastAPI brings document and graph queries together. FastMCP offers agents search, read, relationships and update proposals, but no autonomous approval. MCP is not a prerequisite for the internal graph connection.</a:t>
            </a:r>
          </a:p>
          <a:p xmlns:a="http://schemas.openxmlformats.org/drawingml/2006/main">
            <a:r>
              <a:t/>
            </a:r>
          </a:p>
          <a:p xmlns:a="http://schemas.openxmlformats.org/drawingml/2006/main">
            <a:r>
              <a:t>Git is authoritative for wiki content; SharePoint keeps the original source documents. Graphwise manages the model and the reviewed structured assertions together with their evidence. A curated graph cannot be regenerated in full from text, so export and restore belong to the handover. For time-related questions, Git history, source revision and validity fields are sufficient for now, and a separate temporal database is not foreseen.</a:t>
            </a:r>
          </a:p>
          <a:p xmlns:a="http://schemas.openxmlformats.org/drawingml/2006/main">
            <a:r>
              <a:t/>
            </a:r>
          </a:p>
          <a:p xmlns:a="http://schemas.openxmlformats.org/drawingml/2006/main">
            <a:r>
              <a:t>The local pilot processes supplied data on Linux. Live access to SharePoint Online still requires network access. Local operation of the complete Graphwise package, including activation and model dependencies, has to be confirmed. Static wiki content may only be published to the audience authorised for it, and a full Git copy is not an access concept for differing read rights.</a:t>
            </a:r>
          </a:p>
          <a:p xmlns:a="http://schemas.openxmlformats.org/drawingml/2006/main">
            <a:r>
              <a:t/>
            </a:r>
          </a:p>
          <a:p xmlns:a="http://schemas.openxmlformats.org/drawingml/2006/main">
            <a:r>
              <a:t>Sources: tender documents, written Q&amp;A and meeting notes; proposed Deloitte architecture as at 18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describes delivery boundaries and architectural connections, not a finished API specification. Deloitte covers application architecture, ingestion, wiki creation and curation, presentation, retrieval and agent access. Graphwise is responsible for the semantic model, entity extraction and resolution, GraphDB and the agreed graph services.</a:t>
            </a:r>
          </a:p>
          <a:p xmlns:a="http://schemas.openxmlformats.org/drawingml/2006/main">
            <a:r>
              <a:t/>
            </a:r>
          </a:p>
          <a:p xmlns:a="http://schemas.openxmlformats.org/drawingml/2006/main">
            <a:r>
              <a:t>Graphwise does not have to wait for finished curated pages. Both workstreams start from the same normalised corpus. Approved curated pages can feed into the graph later, provided the original evidence and the derivation status are preserved. Generated annotations or graph displays must not be read back as new independent evidence. Content revision and annotation revision stay separate.</a:t>
            </a:r>
          </a:p>
          <a:p xmlns:a="http://schemas.openxmlformats.org/drawingml/2006/main">
            <a:r>
              <a:t/>
            </a:r>
          </a:p>
          <a:p xmlns:a="http://schemas.openxmlformats.org/drawingml/2006/main">
            <a:r>
              <a:t>Git holds wiki text and versioning; Graphwise holds the semantic model and reviewed graph assertions. There is no necessary one-to-one relationship between page and entity and no requirement for identical display names. Stable references or an explicit mapping make the connection. Where content conflicts arise, domain owners decide on the basis of the underlying sources.</a:t>
            </a:r>
          </a:p>
          <a:p xmlns:a="http://schemas.openxmlformats.org/drawingml/2006/main">
            <a:r>
              <a:t/>
            </a:r>
          </a:p>
          <a:p xmlns:a="http://schemas.openxmlformats.org/drawingml/2006/main">
            <a:r>
              <a:t>By the end of week 2, both sides agree the handover format, IDs, revision reference, authentication, permission model and error handling. Asynchronous transfer with a processing acknowledgement is sufficient for a pilot of this scope. Withdrawal of access does not wait for editorial approval. Permissions must also protect entity names, tags, graph paths, evidence and historical content. Derived pages must not circumvent source restrictions by summarising them.</a:t>
            </a:r>
          </a:p>
          <a:p xmlns:a="http://schemas.openxmlformats.org/drawingml/2006/main">
            <a:r>
              <a:t/>
            </a:r>
          </a:p>
          <a:p xmlns:a="http://schemas.openxmlformats.org/drawingml/2006/main">
            <a:r>
              <a:t>Coordinated document ingestion by Deloitte is the preferred route. A direct Graphwise SharePoint connector is an alternative if it places IDs, conversion, changes and access scopes into the same process; two uncoordinated ingestion paths are not foreseen. Graphwise confirms modules, licence scope, local Linux operation and any required external services. The documented SharePoint connector alone does not confirm local operation of the entire package.</a:t>
            </a:r>
          </a:p>
          <a:p xmlns:a="http://schemas.openxmlformats.org/drawingml/2006/main">
            <a:r>
              <a:t/>
            </a:r>
          </a:p>
          <a:p xmlns:a="http://schemas.openxmlformats.org/drawingml/2006/main">
            <a:r>
              <a:t>The separate proposals must mirror these boundaries, shared milestones and acceptance criteria. Mutual involvement on award is agreed explicitly, since a technical interface on its own secures no engagement.</a:t>
            </a:r>
          </a:p>
          <a:p xmlns:a="http://schemas.openxmlformats.org/drawingml/2006/main">
            <a:r>
              <a:t/>
            </a:r>
          </a:p>
          <a:p xmlns:a="http://schemas.openxmlformats.org/drawingml/2006/main">
            <a:r>
              <a:t>Vendor sources: https://help.graphwise.ai/en/graphwise-integrations/introduction-to-graphwise-for-microsoft-365/m365-connectors-deployment-overview.html ; https://graphdb.ontotext.com/documentation/11.5/clients-and-apis.html . The GraphDB edition and fine-grained permissions are to be agreed with Graphwise: https://graphdb.ontotext.com/documentation/11.5/fine-grained-access-control.html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options are alternative proposals, not consecutive phases. Option B contains the same wiki, search and agent core but replaces the base graph implementation with the Graphwise workstream. The two complete options are never added together and both graph solutions are never built.</a:t>
            </a:r>
          </a:p>
          <a:p xmlns:a="http://schemas.openxmlformats.org/drawingml/2006/main">
            <a:r>
              <a:t/>
            </a:r>
          </a:p>
          <a:p xmlns:a="http://schemas.openxmlformats.org/drawingml/2006/main">
            <a:r>
              <a:t>Option A addresses the RFP's minimum requirement for entities, relationships and traversal with a small number of relationship types confirmed by the business. The relationships are versioned and projected into PostgreSQL. A separate graph database is not necessary at this scope.</a:t>
            </a:r>
          </a:p>
          <a:p xmlns:a="http://schemas.openxmlformats.org/drawingml/2006/main">
            <a:r>
              <a:t/>
            </a:r>
          </a:p>
          <a:p xmlns:a="http://schemas.openxmlformats.org/drawingml/2006/main">
            <a:r>
              <a:t>Option B is particularly relevant where prioritised questions span several documents and depend on relationships or differing specialist terms. Automatic tagging on its own does not yet justify the extra effort. What has to be assessed is the quality and traceability of results, the coverage of relationship questions and the effort of knowledge curation. A search run without graph support serves as the reference on the same corpus. A second full option A pilot is not required for that.</a:t>
            </a:r>
          </a:p>
          <a:p xmlns:a="http://schemas.openxmlformats.org/drawingml/2006/main">
            <a:r>
              <a:t/>
            </a:r>
          </a:p>
          <a:p xmlns:a="http://schemas.openxmlformats.org/drawingml/2006/main">
            <a:r>
              <a:t>Both options demonstrate source ingestion, LLM-supported page creation, domain approval, lifecycle, versioning, granular source evidence, permissions, source change handling and a local agent. Success criteria and the specific questions are set with Daiichi Sankyo during discovery. No blanket promise about the benefit of the graph is made in advance.</a:t>
            </a:r>
          </a:p>
          <a:p xmlns:a="http://schemas.openxmlformats.org/drawingml/2006/main">
            <a:r>
              <a:t/>
            </a:r>
          </a:p>
          <a:p xmlns:a="http://schemas.openxmlformats.org/drawingml/2006/main">
            <a:r>
              <a:t>The components are a reference selection. Discovery firms up the offered scope, and larger extensions require an explicitly agreed change of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Twelve weeks from mobilisation and available access, including two weeks of discovery. The nominal RFP calendar dates (start in September, selection in October, contract signature after due diligence) are to be reconciled before the engagement begins. The timeline is therefore relative and is not a commitment to an unrealistic calendar end date.</a:t>
            </a:r>
          </a:p>
          <a:p xmlns:a="http://schemas.openxmlformats.org/drawingml/2006/main">
            <a:r>
              <a:t/>
            </a:r>
          </a:p>
          <a:p xmlns:a="http://schemas.openxmlformats.org/drawingml/2006/main">
            <a:r>
              <a:t>Weeks 1–2: confirm the pilot area and two use cases, convert a representative document sample, trial the LLM and hardware, appoint domain reviewers and set permission boundaries, agree interfaces and acceptance criteria. In option B, Graphwise works on the semantic model and prepares its own processing in parallel.</a:t>
            </a:r>
          </a:p>
          <a:p xmlns:a="http://schemas.openxmlformats.org/drawingml/2006/main">
            <a:r>
              <a:t/>
            </a:r>
          </a:p>
          <a:p xmlns:a="http://schemas.openxmlformats.org/drawingml/2006/main">
            <a:r>
              <a:t>By week 4: one document is available in normalised form and one generated curated page has been reviewed and published; in option B an evidenced graph relationship is visible in the joint flow. Weeks 5–8 extend and stabilise that end-to-end run. Weeks 9–12 deliver the evaluation, access tests, change handling proof, export and restore, and the handover.</a:t>
            </a:r>
          </a:p>
          <a:p xmlns:a="http://schemas.openxmlformats.org/drawingml/2006/main">
            <a:r>
              <a:t/>
            </a:r>
          </a:p>
          <a:p xmlns:a="http://schemas.openxmlformats.org/drawingml/2006/main">
            <a:r>
              <a:t>Three people over twelve weeks at five working days each comes to a nominal 180 PD. The updated plan contains 190 PD in A and 204 PD on the Deloitte side in B, contingency included. To cover this, a further 10 or 24 PD of temporary engineering and QA capacity is planned within the twelve weeks. Holiday and public holiday calendars have to be taken into account when staffing. Contingency is budget for uncertainty and is not presented as an additional permanent full-time role.</a:t>
            </a:r>
          </a:p>
          <a:p xmlns:a="http://schemas.openxmlformats.org/drawingml/2006/main">
            <a:r>
              <a:t/>
            </a:r>
          </a:p>
          <a:p xmlns:a="http://schemas.openxmlformats.org/drawingml/2006/main">
            <a:r>
              <a:t>BTC aiStudio resources are an option for the two engineering roles if the individuals actually named are proficient in Python, API development and SQL/retrieval, or in React/Git and quality assurance. An experienced lead owns architecture, code reviews and integration, and that supervision is part of the calculation. The core team contains no additional full-time PM role.</a:t>
            </a:r>
          </a:p>
          <a:p xmlns:a="http://schemas.openxmlformats.org/drawingml/2006/main">
            <a:r>
              <a:t/>
            </a:r>
          </a:p>
          <a:p xmlns:a="http://schemas.openxmlformats.org/drawingml/2006/main">
            <a:r>
              <a:t>Graphwise provides its own semantic and graph engineering team in line with its proposal, and the actual staffing level is not confirmed. A generic planning reference is 63 PD including contingency, roughly 1.05 FTE over twelve weeks, which is not a Graphwise commitment. Joint integration dates and technical contacts on both teams are named and fixed.</a:t>
            </a:r>
          </a:p>
          <a:p xmlns:a="http://schemas.openxmlformats.org/drawingml/2006/main">
            <a:r>
              <a:t/>
            </a:r>
          </a:p>
          <a:p xmlns:a="http://schemas.openxmlformats.org/drawingml/2006/main">
            <a:r>
              <a:t>Daiichi Sankyo provides the product owner, domain approvals and IT access. This involvement is not included in the Deloitte PD. The pilot is non-GxP, and a validated production GxP process is not part of the delivery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figures are updated planning values, not fixed prices that have already been released. They are based on the work package calculation including the additions for automated wiki curation. Before prices are released they are reconciled with the current proposal status. T&amp;M with an agreed cost ceiling and transparent scope assumptions.</a:t>
            </a:r>
          </a:p>
          <a:p xmlns:a="http://schemas.openxmlformats.org/drawingml/2006/main">
            <a:r>
              <a:t/>
            </a:r>
          </a:p>
          <a:p xmlns:a="http://schemas.openxmlformats.org/drawingml/2006/main">
            <a:r>
              <a:t>Derivation for A: original assessed Deloitte scope of 156 PD plus 8 PD for LLM-supported curated page creation and 8 PD for targeted wiki curation after source changes = 172 PD. Contingency of 10%, rounded up to whole days = 18 PD. In total 190 PD × EUR 950 = EUR 180,500.</a:t>
            </a:r>
          </a:p>
          <a:p xmlns:a="http://schemas.openxmlformats.org/drawingml/2006/main">
            <a:r>
              <a:t/>
            </a:r>
          </a:p>
          <a:p xmlns:a="http://schemas.openxmlformats.org/drawingml/2006/main">
            <a:r>
              <a:t>Derivation for B: original assessed Deloitte scope of 161 PD plus the same 16 PD of wiki automation plus 8 PD for the adapter handling semantic annotations and wiki context = 185 PD. Contingency of 19 PD. In total 204 PD × EUR 950 = EUR 193,800. In B, 13 PD of Graphwise query and change integration replace the 8 PD base graph block; together with 8 PD for taking in semantic metadata, this produces the visible line of 21 PD. Graphwise's own services are not included in it.</a:t>
            </a:r>
          </a:p>
          <a:p xmlns:a="http://schemas.openxmlformats.org/drawingml/2006/main">
            <a:r>
              <a:t/>
            </a:r>
          </a:p>
          <a:p xmlns:a="http://schemas.openxmlformats.org/drawingml/2006/main">
            <a:r>
              <a:t>Grouping behind the visible table: source ingestion 29 + wiki/governance 25 + LLM creation and curation 16 = 70 PD. Evaluation 20 + operations/handover 16 = 36 PD. Shared packages are counted exactly once within each option. A and B are alternatives and are never added together.</a:t>
            </a:r>
          </a:p>
          <a:p xmlns:a="http://schemas.openxmlformats.org/drawingml/2006/main">
            <a:r>
              <a:t/>
            </a:r>
          </a:p>
          <a:p xmlns:a="http://schemas.openxmlformats.org/drawingml/2006/main">
            <a:r>
              <a:t>The previous three-person capacity frame was 180 PD, or EUR 171,000. The clarified automation scope raises the requirement to 190 and 204 PD respectively, contingency included. Additional requirement against EUR 171,000: EUR 9,500 in A and EUR 22,800 on the Deloitte side in B. An unchanged cost ceiling requires an explicit reduction and re-estimation of the scope.</a:t>
            </a:r>
          </a:p>
          <a:p xmlns:a="http://schemas.openxmlformats.org/drawingml/2006/main">
            <a:r>
              <a:t/>
            </a:r>
          </a:p>
          <a:p xmlns:a="http://schemas.openxmlformats.org/drawingml/2006/main">
            <a:r>
              <a:t>G is the Graphwise pilot package still to be obtained, including the agreed licences and support. One-off and recurring costs as well as exclusions are to be broken out. Infrastructure already contained in G must not be counted twice.</a:t>
            </a:r>
          </a:p>
          <a:p xmlns:a="http://schemas.openxmlformats.org/drawingml/2006/main">
            <a:r>
              <a:t/>
            </a:r>
          </a:p>
          <a:p xmlns:a="http://schemas.openxmlformats.org/drawingml/2006/main">
            <a:r>
              <a:t>Generic planning reference for the additional graph workstream, explicitly not a Graphwise quote: domain model/taxonomy 8 PD; GraphDB provisioning 4; extraction/entity resolution 13; evidence/review status/access scopes 8; changes/metadata return 8; graph queries/context 8; graph quality/export/handover 8. Total 57 PD plus 6 PD contingency = 63 PD. Internal comparison value at EUR 950/PD: EUR 59,850, excluding unknown licences and infrastructure. Internally that would correspond to EUR 253,650 for B as a delivery reference. G replaces this monetary placeholder and is not added on top of it. This says nothing about Graphwise day rates or confirmed staffing.</a:t>
            </a:r>
          </a:p>
          <a:p xmlns:a="http://schemas.openxmlformats.org/drawingml/2006/main">
            <a:r>
              <a:t/>
            </a:r>
          </a:p>
          <a:p xmlns:a="http://schemas.openxmlformats.org/drawingml/2006/main">
            <a:r>
              <a:t>T-shirt basis of the reference: S = 4 PD, M = 8 PD, L = 13 PD. The graph reference range is 44–70 PD before contingency, or 49–77 PD including it. The central value is 63 PD. Calculation boundaries: one pilot domain, two use cases, 50–150 PDF and Office documents up to roughly 3,000 pages and 15–25 curated pages; fewer than ten users and ten agents. These corpus limits are planning assumptions, not customer requirements already agreed.</a:t>
            </a:r>
          </a:p>
          <a:p xmlns:a="http://schemas.openxmlformats.org/drawingml/2006/main">
            <a:r>
              <a:t/>
            </a:r>
          </a:p>
          <a:p xmlns:a="http://schemas.openxmlformats.org/drawingml/2006/main">
            <a:r>
              <a:t>Included: simple change handling, robust permission evidence, local models and a bounded review workflow. Not estimated: full production SharePoint and ACL synchronisation, video processing, high availability, production SLAs or GxP validation. DSE domain approvals and IT support are assumed to be available promptly. The Graphwise scope and local operation of the complete package are to be confirmed separately.</a:t>
            </a:r>
          </a:p>
          <a:p xmlns:a="http://schemas.openxmlformats.org/drawingml/2006/main">
            <a:r>
              <a:t/>
            </a:r>
          </a:p>
          <a:p xmlns:a="http://schemas.openxmlformats.org/drawingml/2006/main">
            <a:r>
              <a:t>Source: work package calculation and extended architecture planning, as at 18 September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bf41cf24dd54cc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ff7635905b4f64" /><Relationship Type="http://schemas.openxmlformats.org/officeDocument/2006/relationships/slideLayout" Target="/ppt/slideLayouts/slideLayout1.xml" Id="R60c5496ff8d9454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0c5496ff8d9454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aiichi RFP">
      <a:dk1>
        <a:srgbClr val="171717"/>
      </a:dk1>
      <a:lt1>
        <a:srgbClr val="FFFFFF"/>
      </a:lt1>
      <a:dk2>
        <a:srgbClr val="565A5C"/>
      </a:dk2>
      <a:lt2>
        <a:srgbClr val="F4F5F3"/>
      </a:lt2>
      <a:accent1>
        <a:srgbClr val="86BC25"/>
      </a:accent1>
      <a:accent2>
        <a:srgbClr val="436C10"/>
      </a:accent2>
      <a:accent3>
        <a:srgbClr val="707B65"/>
      </a:accent3>
      <a:accent4>
        <a:srgbClr val="D8E8C0"/>
      </a:accent4>
      <a:accent5>
        <a:srgbClr val="55595C"/>
      </a:accent5>
      <a:accent6>
        <a:srgbClr val="B9C5AD"/>
      </a:accent6>
      <a:hlink>
        <a:srgbClr val="436C10"/>
      </a:hlink>
      <a:folHlink>
        <a:srgbClr val="436C10"/>
      </a:folHlink>
    </a:clrScheme>
    <a:fontScheme name="Office">
      <a:majorFont>
        <a:latin typeface="Calibri Light"/>
        <a:ea typeface="Calibri Light"/>
        <a:cs typeface="Calibri Light"/>
      </a:majorFont>
      <a:minorFont>
        <a:latin typeface="Calibri"/>
        <a:ea typeface="Calibri"/>
        <a:cs typeface="Calibri"/>
      </a:minorFont>
    </a:fontScheme>
    <a:fmtScheme name="Daiichi RF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f51bbc862044a6f" /><Relationship Type="http://schemas.openxmlformats.org/officeDocument/2006/relationships/notesSlide" Target="/ppt/notesSlides/notesSlide1.xml" Id="R35edbc464ca643f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2b4bfd4506d4821" /><Relationship Type="http://schemas.openxmlformats.org/officeDocument/2006/relationships/notesSlide" Target="/ppt/notesSlides/notesSlide2.xml" Id="R4333fa01e72d4e9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65b1dfb97394d67" /><Relationship Type="http://schemas.openxmlformats.org/officeDocument/2006/relationships/notesSlide" Target="/ppt/notesSlides/notesSlide3.xml" Id="R84072fd61cba4d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e0d096fe474a20" /><Relationship Type="http://schemas.openxmlformats.org/officeDocument/2006/relationships/notesSlide" Target="/ppt/notesSlides/notesSlide4.xml" Id="R7d6f6e98d75d47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9fa1fdde8895456c" /><Relationship Type="http://schemas.openxmlformats.org/officeDocument/2006/relationships/notesSlide" Target="/ppt/notesSlides/notesSlide5.xml" Id="R9a2affb7005c48cd"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One knowledge base for people and agents">
            <a:extLst xmlns:a="http://schemas.openxmlformats.org/drawingml/2006/main">
              <a:ext uri="{FF2B5EF4-FFF2-40B4-BE49-F238E27FC236}">
                <a16:creationId xmlns:a16="http://schemas.microsoft.com/office/drawing/2014/main" id="{9B59DC5B-67D6-4644-B9FC-95677839CB89}"/>
              </a:ext>
            </a:extLst>
          </p:cNvPr>
          <p:cNvSpPr>
            <a:spLocks xmlns:a="http://schemas.openxmlformats.org/drawingml/2006/main" noGrp="1"/>
          </p:cNvSpPr>
          <p:nvPr/>
        </p:nvSpPr>
        <p:spPr>
          <a:xfrm xmlns:a="http://schemas.openxmlformats.org/drawingml/2006/main">
            <a:off x="533400" y="3619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1717"/>
                </a:solidFill>
                <a:latin typeface="Arial"/>
                <a:ea typeface="Arial"/>
                <a:cs typeface="Arial"/>
              </a:defRPr>
            </a:pPr>
            <a:r>
              <a:rPr sz="3000" b="1">
                <a:solidFill>
                  <a:srgbClr val="171717"/>
                </a:solidFill>
                <a:latin typeface="Arial"/>
                <a:ea typeface="Arial"/>
                <a:cs typeface="Arial"/>
              </a:rPr>
              <a:t>One knowledge base for people and agents</a:t>
            </a:r>
          </a:p>
        </p:txBody>
      </p:sp>
      <p:sp>
        <p:nvSpPr>
          <p:cNvPr id="2" name="Reference architecture with Graphwise: shared">
            <a:extLst xmlns:a="http://schemas.openxmlformats.org/drawingml/2006/main">
              <a:ext uri="{FF2B5EF4-FFF2-40B4-BE49-F238E27FC236}">
                <a16:creationId xmlns:a16="http://schemas.microsoft.com/office/drawing/2014/main" id="{C617408A-344C-4913-B347-6267223810AE}"/>
              </a:ext>
            </a:extLst>
          </p:cNvPr>
          <p:cNvSpPr>
            <a:spLocks xmlns:a="http://schemas.openxmlformats.org/drawingml/2006/main" noGrp="1"/>
          </p:cNvSpPr>
          <p:nvPr/>
        </p:nvSpPr>
        <p:spPr>
          <a:xfrm xmlns:a="http://schemas.openxmlformats.org/drawingml/2006/main">
            <a:off x="533400" y="9906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65A5C"/>
                </a:solidFill>
                <a:latin typeface="Arial"/>
                <a:ea typeface="Arial"/>
                <a:cs typeface="Arial"/>
              </a:defRPr>
            </a:pPr>
            <a:r>
              <a:rPr sz="1725" b="0">
                <a:solidFill>
                  <a:srgbClr val="565A5C"/>
                </a:solidFill>
                <a:latin typeface="Arial"/>
                <a:ea typeface="Arial"/>
                <a:cs typeface="Arial"/>
              </a:rPr>
              <a:t>Reference architecture with Graphwise: shared sources, wiki and graph working together.</a:t>
            </a:r>
          </a:p>
        </p:txBody>
      </p:sp>
      <p:sp>
        <p:nvSpPr>
          <p:cNvPr id="3" name="">
            <a:extLst xmlns:a="http://schemas.openxmlformats.org/drawingml/2006/main">
              <a:ext uri="{FF2B5EF4-FFF2-40B4-BE49-F238E27FC236}">
                <a16:creationId xmlns:a16="http://schemas.microsoft.com/office/drawing/2014/main" id="{91E40C38-5986-45B1-97D9-CBC688B04303}"/>
              </a:ext>
            </a:extLst>
          </p:cNvPr>
          <p:cNvSpPr>
            <a:spLocks xmlns:a="http://schemas.openxmlformats.org/drawingml/2006/main" noGrp="1"/>
          </p:cNvSpPr>
          <p:nvPr/>
        </p:nvSpPr>
        <p:spPr>
          <a:xfrm xmlns:a="http://schemas.openxmlformats.org/drawingml/2006/main">
            <a:off x="533400" y="6477000"/>
            <a:ext cx="111252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4" name="Daiichi Sankyo | Enterprise Knowledge Base">
            <a:extLst xmlns:a="http://schemas.openxmlformats.org/drawingml/2006/main">
              <a:ext uri="{FF2B5EF4-FFF2-40B4-BE49-F238E27FC236}">
                <a16:creationId xmlns:a16="http://schemas.microsoft.com/office/drawing/2014/main" id="{226B4782-8D2E-4643-92C2-472960C18BD1}"/>
              </a:ext>
            </a:extLst>
          </p:cNvPr>
          <p:cNvSpPr>
            <a:spLocks xmlns:a="http://schemas.openxmlformats.org/drawingml/2006/main" noGrp="1"/>
          </p:cNvSpPr>
          <p:nvPr/>
        </p:nvSpPr>
        <p:spPr>
          <a:xfrm xmlns:a="http://schemas.openxmlformats.org/drawingml/2006/main">
            <a:off x="533400" y="6572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65A5C"/>
                </a:solidFill>
                <a:latin typeface="Arial"/>
                <a:ea typeface="Arial"/>
                <a:cs typeface="Arial"/>
              </a:defRPr>
            </a:pPr>
            <a:r>
              <a:rPr sz="1050" b="0">
                <a:solidFill>
                  <a:srgbClr val="565A5C"/>
                </a:solidFill>
                <a:latin typeface="Arial"/>
                <a:ea typeface="Arial"/>
                <a:cs typeface="Arial"/>
              </a:rPr>
              <a:t>Daiichi Sankyo | Enterprise Knowledge Base</a:t>
            </a:r>
          </a:p>
        </p:txBody>
      </p:sp>
      <p:sp>
        <p:nvSpPr>
          <p:cNvPr id="5" name="01">
            <a:extLst xmlns:a="http://schemas.openxmlformats.org/drawingml/2006/main">
              <a:ext uri="{FF2B5EF4-FFF2-40B4-BE49-F238E27FC236}">
                <a16:creationId xmlns:a16="http://schemas.microsoft.com/office/drawing/2014/main" id="{B5E805A6-45C7-4944-9557-715FFE15D44A}"/>
              </a:ext>
            </a:extLst>
          </p:cNvPr>
          <p:cNvSpPr>
            <a:spLocks xmlns:a="http://schemas.openxmlformats.org/drawingml/2006/main" noGrp="1"/>
          </p:cNvSpPr>
          <p:nvPr/>
        </p:nvSpPr>
        <p:spPr>
          <a:xfrm xmlns:a="http://schemas.openxmlformats.org/drawingml/2006/main">
            <a:off x="11277600" y="65341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5A5C"/>
                </a:solidFill>
                <a:latin typeface="Arial"/>
                <a:ea typeface="Arial"/>
                <a:cs typeface="Arial"/>
              </a:defRPr>
            </a:pPr>
            <a:r>
              <a:rPr sz="1275" b="0">
                <a:solidFill>
                  <a:srgbClr val="565A5C"/>
                </a:solidFill>
                <a:latin typeface="Arial"/>
                <a:ea typeface="Arial"/>
                <a:cs typeface="Arial"/>
              </a:rPr>
              <a:t>01</a:t>
            </a:r>
          </a:p>
        </p:txBody>
      </p:sp>
      <p:sp>
        <p:nvSpPr>
          <p:cNvPr id="6" name="box">
            <a:extLst xmlns:a="http://schemas.openxmlformats.org/drawingml/2006/main">
              <a:ext uri="{FF2B5EF4-FFF2-40B4-BE49-F238E27FC236}">
                <a16:creationId xmlns:a16="http://schemas.microsoft.com/office/drawing/2014/main" id="{12AF1C48-A739-4451-B334-385C39CC86EA}"/>
              </a:ext>
            </a:extLst>
          </p:cNvPr>
          <p:cNvSpPr>
            <a:spLocks xmlns:a="http://schemas.openxmlformats.org/drawingml/2006/main" noGrp="1"/>
          </p:cNvSpPr>
          <p:nvPr/>
        </p:nvSpPr>
        <p:spPr>
          <a:xfrm xmlns:a="http://schemas.openxmlformats.org/drawingml/2006/main">
            <a:off x="533400" y="1524000"/>
            <a:ext cx="2381250" cy="800100"/>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7" name="SharePoint">
            <a:extLst xmlns:a="http://schemas.openxmlformats.org/drawingml/2006/main">
              <a:ext uri="{FF2B5EF4-FFF2-40B4-BE49-F238E27FC236}">
                <a16:creationId xmlns:a16="http://schemas.microsoft.com/office/drawing/2014/main" id="{089D01FC-5F74-412A-9411-7FF6562D7ABF}"/>
              </a:ext>
            </a:extLst>
          </p:cNvPr>
          <p:cNvSpPr>
            <a:spLocks xmlns:a="http://schemas.openxmlformats.org/drawingml/2006/main" noGrp="1"/>
          </p:cNvSpPr>
          <p:nvPr/>
        </p:nvSpPr>
        <p:spPr>
          <a:xfrm xmlns:a="http://schemas.openxmlformats.org/drawingml/2006/main">
            <a:off x="704850" y="1685925"/>
            <a:ext cx="2047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SharePoint</a:t>
            </a:r>
          </a:p>
        </p:txBody>
      </p:sp>
      <p:sp>
        <p:nvSpPr>
          <p:cNvPr id="8" name="or file export">
            <a:extLst xmlns:a="http://schemas.openxmlformats.org/drawingml/2006/main">
              <a:ext uri="{FF2B5EF4-FFF2-40B4-BE49-F238E27FC236}">
                <a16:creationId xmlns:a16="http://schemas.microsoft.com/office/drawing/2014/main" id="{AE30C258-7E84-490F-ABDA-C16DBA8645D6}"/>
              </a:ext>
            </a:extLst>
          </p:cNvPr>
          <p:cNvSpPr>
            <a:spLocks xmlns:a="http://schemas.openxmlformats.org/drawingml/2006/main" noGrp="1"/>
          </p:cNvSpPr>
          <p:nvPr/>
        </p:nvSpPr>
        <p:spPr>
          <a:xfrm xmlns:a="http://schemas.openxmlformats.org/drawingml/2006/main">
            <a:off x="704850" y="2028825"/>
            <a:ext cx="20383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5A5C"/>
                </a:solidFill>
                <a:latin typeface="Arial"/>
                <a:ea typeface="Arial"/>
                <a:cs typeface="Arial"/>
              </a:defRPr>
            </a:pPr>
            <a:r>
              <a:rPr sz="1500" b="0">
                <a:solidFill>
                  <a:srgbClr val="565A5C"/>
                </a:solidFill>
                <a:latin typeface="Arial"/>
                <a:ea typeface="Arial"/>
                <a:cs typeface="Arial"/>
              </a:rPr>
              <a:t>or file export</a:t>
            </a:r>
          </a:p>
        </p:txBody>
      </p:sp>
      <p:sp>
        <p:nvSpPr>
          <p:cNvPr id="9" name="box">
            <a:extLst xmlns:a="http://schemas.openxmlformats.org/drawingml/2006/main">
              <a:ext uri="{FF2B5EF4-FFF2-40B4-BE49-F238E27FC236}">
                <a16:creationId xmlns:a16="http://schemas.microsoft.com/office/drawing/2014/main" id="{569696E8-7D61-4689-BC5C-AD5AED28F791}"/>
              </a:ext>
            </a:extLst>
          </p:cNvPr>
          <p:cNvSpPr>
            <a:spLocks xmlns:a="http://schemas.openxmlformats.org/drawingml/2006/main" noGrp="1"/>
          </p:cNvSpPr>
          <p:nvPr/>
        </p:nvSpPr>
        <p:spPr>
          <a:xfrm xmlns:a="http://schemas.openxmlformats.org/drawingml/2006/main">
            <a:off x="3371850" y="1524000"/>
            <a:ext cx="3276600" cy="800100"/>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10" name="Intake &amp; conversion">
            <a:extLst xmlns:a="http://schemas.openxmlformats.org/drawingml/2006/main">
              <a:ext uri="{FF2B5EF4-FFF2-40B4-BE49-F238E27FC236}">
                <a16:creationId xmlns:a16="http://schemas.microsoft.com/office/drawing/2014/main" id="{3C333D7C-C108-401B-B912-A1137921ABBA}"/>
              </a:ext>
            </a:extLst>
          </p:cNvPr>
          <p:cNvSpPr>
            <a:spLocks xmlns:a="http://schemas.openxmlformats.org/drawingml/2006/main" noGrp="1"/>
          </p:cNvSpPr>
          <p:nvPr/>
        </p:nvSpPr>
        <p:spPr>
          <a:xfrm xmlns:a="http://schemas.openxmlformats.org/drawingml/2006/main">
            <a:off x="3543300" y="1685925"/>
            <a:ext cx="2952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1717"/>
                </a:solidFill>
                <a:latin typeface="Arial"/>
                <a:ea typeface="Arial"/>
                <a:cs typeface="Arial"/>
              </a:defRPr>
            </a:pPr>
            <a:r>
              <a:rPr sz="1725" b="1">
                <a:solidFill>
                  <a:srgbClr val="171717"/>
                </a:solidFill>
                <a:latin typeface="Arial"/>
                <a:ea typeface="Arial"/>
                <a:cs typeface="Arial"/>
              </a:rPr>
              <a:t>Intake &amp; conversion</a:t>
            </a:r>
          </a:p>
        </p:txBody>
      </p:sp>
      <p:sp>
        <p:nvSpPr>
          <p:cNvPr id="11" name="Microsoft Graph · Docling">
            <a:extLst xmlns:a="http://schemas.openxmlformats.org/drawingml/2006/main">
              <a:ext uri="{FF2B5EF4-FFF2-40B4-BE49-F238E27FC236}">
                <a16:creationId xmlns:a16="http://schemas.microsoft.com/office/drawing/2014/main" id="{C5ED55BC-44DD-4F49-9E0C-CAEAC171C073}"/>
              </a:ext>
            </a:extLst>
          </p:cNvPr>
          <p:cNvSpPr>
            <a:spLocks xmlns:a="http://schemas.openxmlformats.org/drawingml/2006/main" noGrp="1"/>
          </p:cNvSpPr>
          <p:nvPr/>
        </p:nvSpPr>
        <p:spPr>
          <a:xfrm xmlns:a="http://schemas.openxmlformats.org/drawingml/2006/main">
            <a:off x="3543300" y="2028825"/>
            <a:ext cx="29432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5A5C"/>
                </a:solidFill>
                <a:latin typeface="Arial"/>
                <a:ea typeface="Arial"/>
                <a:cs typeface="Arial"/>
              </a:defRPr>
            </a:pPr>
            <a:r>
              <a:rPr sz="1500" b="0">
                <a:solidFill>
                  <a:srgbClr val="565A5C"/>
                </a:solidFill>
                <a:latin typeface="Arial"/>
                <a:ea typeface="Arial"/>
                <a:cs typeface="Arial"/>
              </a:rPr>
              <a:t>Microsoft Graph · Docling</a:t>
            </a:r>
          </a:p>
        </p:txBody>
      </p:sp>
      <p:sp>
        <p:nvSpPr>
          <p:cNvPr id="12" name="box">
            <a:extLst xmlns:a="http://schemas.openxmlformats.org/drawingml/2006/main">
              <a:ext uri="{FF2B5EF4-FFF2-40B4-BE49-F238E27FC236}">
                <a16:creationId xmlns:a16="http://schemas.microsoft.com/office/drawing/2014/main" id="{44AC8077-F474-4801-9E8D-AFA784D6AFFD}"/>
              </a:ext>
            </a:extLst>
          </p:cNvPr>
          <p:cNvSpPr>
            <a:spLocks xmlns:a="http://schemas.openxmlformats.org/drawingml/2006/main" noGrp="1"/>
          </p:cNvSpPr>
          <p:nvPr/>
        </p:nvSpPr>
        <p:spPr>
          <a:xfrm xmlns:a="http://schemas.openxmlformats.org/drawingml/2006/main">
            <a:off x="7105650" y="1524000"/>
            <a:ext cx="4552950" cy="800100"/>
          </a:xfrm>
          <a:prstGeom xmlns:a="http://schemas.openxmlformats.org/drawingml/2006/main" prst="rect">
            <a:avLst/>
          </a:prstGeom>
          <a:solidFill xmlns:a="http://schemas.openxmlformats.org/drawingml/2006/main">
            <a:srgbClr val="F0F6E7"/>
          </a:solidFill>
          <a:ln xmlns:a="http://schemas.openxmlformats.org/drawingml/2006/main" w="14288">
            <a:solidFill>
              <a:srgbClr val="86BC25"/>
            </a:solidFill>
          </a:ln>
        </p:spPr>
      </p:sp>
      <p:sp>
        <p:nvSpPr>
          <p:cNvPr id="13" name="Versioned source documents in Git">
            <a:extLst xmlns:a="http://schemas.openxmlformats.org/drawingml/2006/main">
              <a:ext uri="{FF2B5EF4-FFF2-40B4-BE49-F238E27FC236}">
                <a16:creationId xmlns:a16="http://schemas.microsoft.com/office/drawing/2014/main" id="{B09A010A-72D1-4CA3-84DF-7AA1596898A4}"/>
              </a:ext>
            </a:extLst>
          </p:cNvPr>
          <p:cNvSpPr>
            <a:spLocks xmlns:a="http://schemas.openxmlformats.org/drawingml/2006/main" noGrp="1"/>
          </p:cNvSpPr>
          <p:nvPr/>
        </p:nvSpPr>
        <p:spPr>
          <a:xfrm xmlns:a="http://schemas.openxmlformats.org/drawingml/2006/main">
            <a:off x="7277100" y="1676400"/>
            <a:ext cx="4200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Versioned source documents in Git</a:t>
            </a:r>
          </a:p>
        </p:txBody>
      </p:sp>
      <p:sp>
        <p:nvSpPr>
          <p:cNvPr id="14" name="Document ID · revision · evidence · access sc">
            <a:extLst xmlns:a="http://schemas.openxmlformats.org/drawingml/2006/main">
              <a:ext uri="{FF2B5EF4-FFF2-40B4-BE49-F238E27FC236}">
                <a16:creationId xmlns:a16="http://schemas.microsoft.com/office/drawing/2014/main" id="{303707DE-503C-4CC3-923C-F00AF883ECF1}"/>
              </a:ext>
            </a:extLst>
          </p:cNvPr>
          <p:cNvSpPr>
            <a:spLocks xmlns:a="http://schemas.openxmlformats.org/drawingml/2006/main" noGrp="1"/>
          </p:cNvSpPr>
          <p:nvPr/>
        </p:nvSpPr>
        <p:spPr>
          <a:xfrm xmlns:a="http://schemas.openxmlformats.org/drawingml/2006/main">
            <a:off x="7277100" y="2019300"/>
            <a:ext cx="4200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63" b="0">
                <a:solidFill>
                  <a:srgbClr val="565A5C"/>
                </a:solidFill>
                <a:latin typeface="Arial"/>
                <a:ea typeface="Arial"/>
                <a:cs typeface="Arial"/>
              </a:defRPr>
            </a:pPr>
            <a:r>
              <a:rPr sz="1463" b="0">
                <a:solidFill>
                  <a:srgbClr val="565A5C"/>
                </a:solidFill>
                <a:latin typeface="Arial"/>
                <a:ea typeface="Arial"/>
                <a:cs typeface="Arial"/>
              </a:rPr>
              <a:t>Document ID · revision · evidence · access scope</a:t>
            </a:r>
          </a:p>
        </p:txBody>
      </p:sp>
      <p:cxnSp>
        <p:nvCxnSpPr>
          <p:cNvPr id="60" name=""/>
          <p:cNvCxnSpPr>
            <a:stCxn xmlns:a="http://schemas.openxmlformats.org/drawingml/2006/main" id="6" idx="3"/>
            <a:endCxn xmlns:a="http://schemas.openxmlformats.org/drawingml/2006/main" id="9" idx="1"/>
          </p:cNvCxnSpPr>
          <p:nvPr/>
        </p:nvCxnSpPr>
        <p:spPr>
          <a:xfrm xmlns:a="http://schemas.openxmlformats.org/drawingml/2006/main">
            <a:off x="2914650" y="1924050"/>
            <a:ext cx="4572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cxnSp>
        <p:nvCxnSpPr>
          <p:cNvPr id="61" name=""/>
          <p:cNvCxnSpPr>
            <a:stCxn xmlns:a="http://schemas.openxmlformats.org/drawingml/2006/main" id="9" idx="3"/>
            <a:endCxn xmlns:a="http://schemas.openxmlformats.org/drawingml/2006/main" id="12" idx="1"/>
          </p:cNvCxnSpPr>
          <p:nvPr/>
        </p:nvCxnSpPr>
        <p:spPr>
          <a:xfrm xmlns:a="http://schemas.openxmlformats.org/drawingml/2006/main">
            <a:off x="6648450" y="1924050"/>
            <a:ext cx="4572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sp>
        <p:nvSpPr>
          <p:cNvPr id="17" name="box">
            <a:extLst xmlns:a="http://schemas.openxmlformats.org/drawingml/2006/main">
              <a:ext uri="{FF2B5EF4-FFF2-40B4-BE49-F238E27FC236}">
                <a16:creationId xmlns:a16="http://schemas.microsoft.com/office/drawing/2014/main" id="{AE44DEE2-9D08-43E7-9936-138237B7D73C}"/>
              </a:ext>
            </a:extLst>
          </p:cNvPr>
          <p:cNvSpPr>
            <a:spLocks xmlns:a="http://schemas.openxmlformats.org/drawingml/2006/main" noGrp="1"/>
          </p:cNvSpPr>
          <p:nvPr/>
        </p:nvSpPr>
        <p:spPr>
          <a:xfrm xmlns:a="http://schemas.openxmlformats.org/drawingml/2006/main">
            <a:off x="533400" y="2952750"/>
            <a:ext cx="6743700" cy="1828800"/>
          </a:xfrm>
          <a:prstGeom xmlns:a="http://schemas.openxmlformats.org/drawingml/2006/main" prst="rect">
            <a:avLst/>
          </a:prstGeom>
          <a:solidFill xmlns:a="http://schemas.openxmlformats.org/drawingml/2006/main">
            <a:srgbClr val="FFFFFF"/>
          </a:solidFill>
          <a:ln xmlns:a="http://schemas.openxmlformats.org/drawingml/2006/main" w="19050">
            <a:solidFill>
              <a:srgbClr val="86BC25"/>
            </a:solidFill>
          </a:ln>
        </p:spPr>
      </p:sp>
      <p:sp>
        <p:nvSpPr>
          <p:cNvPr id="18" name="Deloitte · Business Wiki">
            <a:extLst xmlns:a="http://schemas.openxmlformats.org/drawingml/2006/main">
              <a:ext uri="{FF2B5EF4-FFF2-40B4-BE49-F238E27FC236}">
                <a16:creationId xmlns:a16="http://schemas.microsoft.com/office/drawing/2014/main" id="{3A23B8A5-844B-4254-BC8B-F9A22EBA929F}"/>
              </a:ext>
            </a:extLst>
          </p:cNvPr>
          <p:cNvSpPr>
            <a:spLocks xmlns:a="http://schemas.openxmlformats.org/drawingml/2006/main" noGrp="1"/>
          </p:cNvSpPr>
          <p:nvPr/>
        </p:nvSpPr>
        <p:spPr>
          <a:xfrm xmlns:a="http://schemas.openxmlformats.org/drawingml/2006/main">
            <a:off x="723900" y="3105150"/>
            <a:ext cx="634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1717"/>
                </a:solidFill>
                <a:latin typeface="Arial"/>
                <a:ea typeface="Arial"/>
                <a:cs typeface="Arial"/>
              </a:defRPr>
            </a:pPr>
            <a:r>
              <a:rPr sz="2100" b="1">
                <a:solidFill>
                  <a:srgbClr val="171717"/>
                </a:solidFill>
                <a:latin typeface="Arial"/>
                <a:ea typeface="Arial"/>
                <a:cs typeface="Arial"/>
              </a:rPr>
              <a:t>Deloitte · Business Wiki</a:t>
            </a:r>
          </a:p>
        </p:txBody>
      </p:sp>
      <p:sp>
        <p:nvSpPr>
          <p:cNvPr id="19" name="">
            <a:extLst xmlns:a="http://schemas.openxmlformats.org/drawingml/2006/main">
              <a:ext uri="{FF2B5EF4-FFF2-40B4-BE49-F238E27FC236}">
                <a16:creationId xmlns:a16="http://schemas.microsoft.com/office/drawing/2014/main" id="{1FDA62C2-550F-45EB-9CC2-EE90F757F05E}"/>
              </a:ext>
            </a:extLst>
          </p:cNvPr>
          <p:cNvSpPr>
            <a:spLocks xmlns:a="http://schemas.openxmlformats.org/drawingml/2006/main" noGrp="1"/>
          </p:cNvSpPr>
          <p:nvPr/>
        </p:nvSpPr>
        <p:spPr>
          <a:xfrm xmlns:a="http://schemas.openxmlformats.org/drawingml/2006/main">
            <a:off x="723900" y="3514725"/>
            <a:ext cx="63627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20" name="Source pages + approved curated pages">
            <a:extLst xmlns:a="http://schemas.openxmlformats.org/drawingml/2006/main">
              <a:ext uri="{FF2B5EF4-FFF2-40B4-BE49-F238E27FC236}">
                <a16:creationId xmlns:a16="http://schemas.microsoft.com/office/drawing/2014/main" id="{522B3785-A64C-4EBB-8EBD-69CE21BF5EF2}"/>
              </a:ext>
            </a:extLst>
          </p:cNvPr>
          <p:cNvSpPr>
            <a:spLocks xmlns:a="http://schemas.openxmlformats.org/drawingml/2006/main" noGrp="1"/>
          </p:cNvSpPr>
          <p:nvPr/>
        </p:nvSpPr>
        <p:spPr>
          <a:xfrm xmlns:a="http://schemas.openxmlformats.org/drawingml/2006/main">
            <a:off x="723900" y="3676650"/>
            <a:ext cx="62960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Source pages + approved curated pages</a:t>
            </a:r>
          </a:p>
        </p:txBody>
      </p:sp>
      <p:sp>
        <p:nvSpPr>
          <p:cNvPr id="21" name="Python + local LLM: drafts and targeted updat">
            <a:extLst xmlns:a="http://schemas.openxmlformats.org/drawingml/2006/main">
              <a:ext uri="{FF2B5EF4-FFF2-40B4-BE49-F238E27FC236}">
                <a16:creationId xmlns:a16="http://schemas.microsoft.com/office/drawing/2014/main" id="{FD854D0F-CA19-4096-B59D-D74C05C195FF}"/>
              </a:ext>
            </a:extLst>
          </p:cNvPr>
          <p:cNvSpPr>
            <a:spLocks xmlns:a="http://schemas.openxmlformats.org/drawingml/2006/main" noGrp="1"/>
          </p:cNvSpPr>
          <p:nvPr/>
        </p:nvSpPr>
        <p:spPr>
          <a:xfrm xmlns:a="http://schemas.openxmlformats.org/drawingml/2006/main">
            <a:off x="723900" y="4067175"/>
            <a:ext cx="6343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171717"/>
                </a:solidFill>
                <a:latin typeface="Arial"/>
                <a:ea typeface="Arial"/>
                <a:cs typeface="Arial"/>
              </a:defRPr>
            </a:pPr>
            <a:r>
              <a:rPr sz="1650" b="0">
                <a:solidFill>
                  <a:srgbClr val="171717"/>
                </a:solidFill>
                <a:latin typeface="Arial"/>
                <a:ea typeface="Arial"/>
                <a:cs typeface="Arial"/>
              </a:rPr>
              <a:t>Python + local LLM: drafts and targeted updates</a:t>
            </a:r>
          </a:p>
        </p:txBody>
      </p:sp>
      <p:sp>
        <p:nvSpPr>
          <p:cNvPr id="22" name="Git: content and history  |  Docusaurus: pres">
            <a:extLst xmlns:a="http://schemas.openxmlformats.org/drawingml/2006/main">
              <a:ext uri="{FF2B5EF4-FFF2-40B4-BE49-F238E27FC236}">
                <a16:creationId xmlns:a16="http://schemas.microsoft.com/office/drawing/2014/main" id="{9D7CD45B-D435-47B3-925C-A08B22274D23}"/>
              </a:ext>
            </a:extLst>
          </p:cNvPr>
          <p:cNvSpPr>
            <a:spLocks xmlns:a="http://schemas.openxmlformats.org/drawingml/2006/main" noGrp="1"/>
          </p:cNvSpPr>
          <p:nvPr/>
        </p:nvSpPr>
        <p:spPr>
          <a:xfrm xmlns:a="http://schemas.openxmlformats.org/drawingml/2006/main">
            <a:off x="723900" y="4429125"/>
            <a:ext cx="63436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Git: content and history  |  Docusaurus: presentation</a:t>
            </a:r>
          </a:p>
        </p:txBody>
      </p:sp>
      <p:sp>
        <p:nvSpPr>
          <p:cNvPr id="23" name="box">
            <a:extLst xmlns:a="http://schemas.openxmlformats.org/drawingml/2006/main">
              <a:ext uri="{FF2B5EF4-FFF2-40B4-BE49-F238E27FC236}">
                <a16:creationId xmlns:a16="http://schemas.microsoft.com/office/drawing/2014/main" id="{586B258B-D5B2-4B24-B46D-1DED62A77D44}"/>
              </a:ext>
            </a:extLst>
          </p:cNvPr>
          <p:cNvSpPr>
            <a:spLocks xmlns:a="http://schemas.openxmlformats.org/drawingml/2006/main" noGrp="1"/>
          </p:cNvSpPr>
          <p:nvPr/>
        </p:nvSpPr>
        <p:spPr>
          <a:xfrm xmlns:a="http://schemas.openxmlformats.org/drawingml/2006/main">
            <a:off x="8591550" y="2952750"/>
            <a:ext cx="3067050" cy="1828800"/>
          </a:xfrm>
          <a:prstGeom xmlns:a="http://schemas.openxmlformats.org/drawingml/2006/main" prst="rect">
            <a:avLst/>
          </a:prstGeom>
          <a:solidFill xmlns:a="http://schemas.openxmlformats.org/drawingml/2006/main">
            <a:srgbClr val="EAEDE8"/>
          </a:solidFill>
          <a:ln xmlns:a="http://schemas.openxmlformats.org/drawingml/2006/main" w="9525">
            <a:solidFill>
              <a:srgbClr val="D7DBD4"/>
            </a:solidFill>
          </a:ln>
        </p:spPr>
      </p:sp>
      <p:sp>
        <p:nvSpPr>
          <p:cNvPr id="24" name="Graphwise · Graph">
            <a:extLst xmlns:a="http://schemas.openxmlformats.org/drawingml/2006/main">
              <a:ext uri="{FF2B5EF4-FFF2-40B4-BE49-F238E27FC236}">
                <a16:creationId xmlns:a16="http://schemas.microsoft.com/office/drawing/2014/main" id="{DF946031-D78F-4833-8ECD-5880F5725565}"/>
              </a:ext>
            </a:extLst>
          </p:cNvPr>
          <p:cNvSpPr>
            <a:spLocks xmlns:a="http://schemas.openxmlformats.org/drawingml/2006/main" noGrp="1"/>
          </p:cNvSpPr>
          <p:nvPr/>
        </p:nvSpPr>
        <p:spPr>
          <a:xfrm xmlns:a="http://schemas.openxmlformats.org/drawingml/2006/main">
            <a:off x="8782050" y="3105150"/>
            <a:ext cx="27051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Graphwise · Graph</a:t>
            </a:r>
          </a:p>
        </p:txBody>
      </p:sp>
      <p:sp>
        <p:nvSpPr>
          <p:cNvPr id="25" name="">
            <a:extLst xmlns:a="http://schemas.openxmlformats.org/drawingml/2006/main">
              <a:ext uri="{FF2B5EF4-FFF2-40B4-BE49-F238E27FC236}">
                <a16:creationId xmlns:a16="http://schemas.microsoft.com/office/drawing/2014/main" id="{7A5C63AC-C538-4E10-A2CF-86956A2AF32B}"/>
              </a:ext>
            </a:extLst>
          </p:cNvPr>
          <p:cNvSpPr>
            <a:spLocks xmlns:a="http://schemas.openxmlformats.org/drawingml/2006/main" noGrp="1"/>
          </p:cNvSpPr>
          <p:nvPr/>
        </p:nvSpPr>
        <p:spPr>
          <a:xfrm xmlns:a="http://schemas.openxmlformats.org/drawingml/2006/main">
            <a:off x="8782050" y="3514725"/>
            <a:ext cx="268605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26" name="Taxonomy and entities&#10;Evidenced relationships&#10;G">
            <a:extLst xmlns:a="http://schemas.openxmlformats.org/drawingml/2006/main">
              <a:ext uri="{FF2B5EF4-FFF2-40B4-BE49-F238E27FC236}">
                <a16:creationId xmlns:a16="http://schemas.microsoft.com/office/drawing/2014/main" id="{DD371C57-215B-4676-B1FE-F7227F6E0EE7}"/>
              </a:ext>
            </a:extLst>
          </p:cNvPr>
          <p:cNvSpPr>
            <a:spLocks xmlns:a="http://schemas.openxmlformats.org/drawingml/2006/main" noGrp="1"/>
          </p:cNvSpPr>
          <p:nvPr/>
        </p:nvSpPr>
        <p:spPr>
          <a:xfrm xmlns:a="http://schemas.openxmlformats.org/drawingml/2006/main">
            <a:off x="8782050" y="3695700"/>
            <a:ext cx="27051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71717"/>
                </a:solidFill>
                <a:latin typeface="Arial"/>
                <a:ea typeface="Arial"/>
                <a:cs typeface="Arial"/>
              </a:defRPr>
            </a:pPr>
            <a:r>
              <a:rPr sz="1725" b="0">
                <a:solidFill>
                  <a:srgbClr val="171717"/>
                </a:solidFill>
                <a:latin typeface="Arial"/>
                <a:ea typeface="Arial"/>
                <a:cs typeface="Arial"/>
              </a:rPr>
              <a:t>Taxonomy and entities</a:t>
            </a:r>
          </a:p>
          <a:p xmlns:a="http://schemas.openxmlformats.org/drawingml/2006/main">
            <a:pPr algn="l">
              <a:defRPr sz="1725" b="0">
                <a:solidFill>
                  <a:srgbClr val="171717"/>
                </a:solidFill>
                <a:latin typeface="Arial"/>
                <a:ea typeface="Arial"/>
                <a:cs typeface="Arial"/>
              </a:defRPr>
            </a:pPr>
            <a:r>
              <a:rPr sz="1725" b="0">
                <a:solidFill>
                  <a:srgbClr val="171717"/>
                </a:solidFill>
                <a:latin typeface="Arial"/>
                <a:ea typeface="Arial"/>
                <a:cs typeface="Arial"/>
              </a:rPr>
              <a:t>Evidenced relationships</a:t>
            </a:r>
          </a:p>
          <a:p xmlns:a="http://schemas.openxmlformats.org/drawingml/2006/main">
            <a:pPr algn="l">
              <a:defRPr sz="1725" b="0">
                <a:solidFill>
                  <a:srgbClr val="171717"/>
                </a:solidFill>
                <a:latin typeface="Arial"/>
                <a:ea typeface="Arial"/>
                <a:cs typeface="Arial"/>
              </a:defRPr>
            </a:pPr>
            <a:r>
              <a:rPr sz="1725" b="0">
                <a:solidFill>
                  <a:srgbClr val="171717"/>
                </a:solidFill>
                <a:latin typeface="Arial"/>
                <a:ea typeface="Arial"/>
                <a:cs typeface="Arial"/>
              </a:rPr>
              <a:t>GraphDB + services</a:t>
            </a:r>
          </a:p>
        </p:txBody>
      </p:sp>
      <p:cxnSp>
        <p:nvCxnSpPr>
          <p:cNvPr id="72" name=""/>
          <p:cNvCxnSpPr>
            <a:stCxn xmlns:a="http://schemas.openxmlformats.org/drawingml/2006/main" id="12" idx="2"/>
            <a:endCxn xmlns:a="http://schemas.openxmlformats.org/drawingml/2006/main" id="17" idx="0"/>
          </p:cNvCxnSpPr>
          <p:nvPr/>
        </p:nvCxnSpPr>
        <p:spPr>
          <a:xfrm xmlns:a="http://schemas.openxmlformats.org/drawingml/2006/main" flipH="1">
            <a:off x="3905250" y="2324100"/>
            <a:ext cx="5476875" cy="628650"/>
          </a:xfrm>
          <a:prstGeom xmlns:a="http://schemas.openxmlformats.org/drawingml/2006/main" prst="bentConnector4">
            <a:avLst>
              <a:gd name="adj1" fmla="val 0"/>
              <a:gd name="adj2" fmla="val 50000"/>
            </a:avLst>
          </a:prstGeom>
          <a:ln xmlns:a="http://schemas.openxmlformats.org/drawingml/2006/main" w="19050">
            <a:solidFill>
              <a:srgbClr val="565A5C"/>
            </a:solidFill>
            <a:prstDash val="solid"/>
            <a:tailEnd type="triangle" w="sm" len="sm"/>
          </a:ln>
        </p:spPr>
      </p:cxnSp>
      <p:cxnSp>
        <p:nvCxnSpPr>
          <p:cNvPr id="73" name=""/>
          <p:cNvCxnSpPr>
            <a:stCxn xmlns:a="http://schemas.openxmlformats.org/drawingml/2006/main" id="12" idx="2"/>
            <a:endCxn xmlns:a="http://schemas.openxmlformats.org/drawingml/2006/main" id="23" idx="0"/>
          </p:cNvCxnSpPr>
          <p:nvPr/>
        </p:nvCxnSpPr>
        <p:spPr>
          <a:xfrm xmlns:a="http://schemas.openxmlformats.org/drawingml/2006/main">
            <a:off x="9382125" y="2324100"/>
            <a:ext cx="742950" cy="628650"/>
          </a:xfrm>
          <a:prstGeom xmlns:a="http://schemas.openxmlformats.org/drawingml/2006/main" prst="bentConnector4">
            <a:avLst>
              <a:gd name="adj1" fmla="val 0"/>
              <a:gd name="adj2" fmla="val 50000"/>
            </a:avLst>
          </a:prstGeom>
          <a:ln xmlns:a="http://schemas.openxmlformats.org/drawingml/2006/main" w="19050">
            <a:solidFill>
              <a:srgbClr val="565A5C"/>
            </a:solidFill>
            <a:prstDash val="solid"/>
            <a:tailEnd type="triangle" w="sm" len="sm"/>
          </a:ln>
        </p:spPr>
      </p:cxnSp>
      <p:sp>
        <p:nvSpPr>
          <p:cNvPr id="29" name="In parallel from the same sources">
            <a:extLst xmlns:a="http://schemas.openxmlformats.org/drawingml/2006/main">
              <a:ext uri="{FF2B5EF4-FFF2-40B4-BE49-F238E27FC236}">
                <a16:creationId xmlns:a16="http://schemas.microsoft.com/office/drawing/2014/main" id="{D7EAC7DB-1143-4858-AA4A-BC49CDB499D0}"/>
              </a:ext>
            </a:extLst>
          </p:cNvPr>
          <p:cNvSpPr>
            <a:spLocks xmlns:a="http://schemas.openxmlformats.org/drawingml/2006/main" noGrp="1"/>
          </p:cNvSpPr>
          <p:nvPr/>
        </p:nvSpPr>
        <p:spPr>
          <a:xfrm xmlns:a="http://schemas.openxmlformats.org/drawingml/2006/main">
            <a:off x="542925" y="2552700"/>
            <a:ext cx="438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436C10"/>
                </a:solidFill>
                <a:latin typeface="Arial"/>
                <a:ea typeface="Arial"/>
                <a:cs typeface="Arial"/>
              </a:defRPr>
            </a:pPr>
            <a:r>
              <a:rPr sz="1500" b="1">
                <a:solidFill>
                  <a:srgbClr val="436C10"/>
                </a:solidFill>
                <a:latin typeface="Arial"/>
                <a:ea typeface="Arial"/>
                <a:cs typeface="Arial"/>
              </a:rPr>
              <a:t>In parallel from the same sources</a:t>
            </a:r>
          </a:p>
        </p:txBody>
      </p:sp>
      <p:cxnSp>
        <p:nvCxnSpPr>
          <p:cNvPr id="75" name=""/>
          <p:cNvCxnSpPr>
            <a:stCxn xmlns:a="http://schemas.openxmlformats.org/drawingml/2006/main" id="23" idx="1"/>
            <a:endCxn xmlns:a="http://schemas.openxmlformats.org/drawingml/2006/main" id="17" idx="3"/>
          </p:cNvCxnSpPr>
          <p:nvPr/>
        </p:nvCxnSpPr>
        <p:spPr>
          <a:xfrm xmlns:a="http://schemas.openxmlformats.org/drawingml/2006/main" flipH="1">
            <a:off x="7277100" y="3867150"/>
            <a:ext cx="1314450" cy="0"/>
          </a:xfrm>
          <a:prstGeom xmlns:a="http://schemas.openxmlformats.org/drawingml/2006/main" prst="straightConnector1">
            <a:avLst/>
          </a:prstGeom>
          <a:ln xmlns:a="http://schemas.openxmlformats.org/drawingml/2006/main" w="19050">
            <a:solidFill>
              <a:srgbClr val="436C10"/>
            </a:solidFill>
            <a:prstDash val="solid"/>
            <a:tailEnd type="triangle" w="sm" len="sm"/>
          </a:ln>
        </p:spPr>
      </p:cxnSp>
      <p:sp>
        <p:nvSpPr>
          <p:cNvPr id="31" name="Tags, IDs&#10;and context">
            <a:extLst xmlns:a="http://schemas.openxmlformats.org/drawingml/2006/main">
              <a:ext uri="{FF2B5EF4-FFF2-40B4-BE49-F238E27FC236}">
                <a16:creationId xmlns:a16="http://schemas.microsoft.com/office/drawing/2014/main" id="{1A21C7D5-0298-4A3B-8432-F7579792F6BD}"/>
              </a:ext>
            </a:extLst>
          </p:cNvPr>
          <p:cNvSpPr>
            <a:spLocks xmlns:a="http://schemas.openxmlformats.org/drawingml/2006/main" noGrp="1"/>
          </p:cNvSpPr>
          <p:nvPr/>
        </p:nvSpPr>
        <p:spPr>
          <a:xfrm xmlns:a="http://schemas.openxmlformats.org/drawingml/2006/main">
            <a:off x="7400925" y="3305175"/>
            <a:ext cx="11049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defRPr sz="1388" b="0">
                <a:solidFill>
                  <a:srgbClr val="436C10"/>
                </a:solidFill>
                <a:latin typeface="Arial"/>
                <a:ea typeface="Arial"/>
                <a:cs typeface="Arial"/>
              </a:defRPr>
            </a:pPr>
            <a:r>
              <a:rPr sz="1388" b="0">
                <a:solidFill>
                  <a:srgbClr val="436C10"/>
                </a:solidFill>
                <a:latin typeface="Arial"/>
                <a:ea typeface="Arial"/>
                <a:cs typeface="Arial"/>
              </a:rPr>
              <a:t>Tags, IDs</a:t>
            </a:r>
          </a:p>
          <a:p xmlns:a="http://schemas.openxmlformats.org/drawingml/2006/main">
            <a:pPr algn="ctr">
              <a:defRPr sz="1388" b="0">
                <a:solidFill>
                  <a:srgbClr val="436C10"/>
                </a:solidFill>
                <a:latin typeface="Arial"/>
                <a:ea typeface="Arial"/>
                <a:cs typeface="Arial"/>
              </a:defRPr>
            </a:pPr>
            <a:r>
              <a:rPr sz="1388" b="0">
                <a:solidFill>
                  <a:srgbClr val="436C10"/>
                </a:solidFill>
                <a:latin typeface="Arial"/>
                <a:ea typeface="Arial"/>
                <a:cs typeface="Arial"/>
              </a:rPr>
              <a:t>and context</a:t>
            </a:r>
          </a:p>
        </p:txBody>
      </p:sp>
      <p:sp>
        <p:nvSpPr>
          <p:cNvPr id="32" name="box">
            <a:extLst xmlns:a="http://schemas.openxmlformats.org/drawingml/2006/main">
              <a:ext uri="{FF2B5EF4-FFF2-40B4-BE49-F238E27FC236}">
                <a16:creationId xmlns:a16="http://schemas.microsoft.com/office/drawing/2014/main" id="{5FFC57B4-B860-4F74-B614-F100C33EF47E}"/>
              </a:ext>
            </a:extLst>
          </p:cNvPr>
          <p:cNvSpPr>
            <a:spLocks xmlns:a="http://schemas.openxmlformats.org/drawingml/2006/main" noGrp="1"/>
          </p:cNvSpPr>
          <p:nvPr/>
        </p:nvSpPr>
        <p:spPr>
          <a:xfrm xmlns:a="http://schemas.openxmlformats.org/drawingml/2006/main">
            <a:off x="533400" y="5276850"/>
            <a:ext cx="3333750" cy="819150"/>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33" name="PostgreSQL + pgvector">
            <a:extLst xmlns:a="http://schemas.openxmlformats.org/drawingml/2006/main">
              <a:ext uri="{FF2B5EF4-FFF2-40B4-BE49-F238E27FC236}">
                <a16:creationId xmlns:a16="http://schemas.microsoft.com/office/drawing/2014/main" id="{29DE4549-83CF-4F6A-965C-BF97AA13FA13}"/>
              </a:ext>
            </a:extLst>
          </p:cNvPr>
          <p:cNvSpPr>
            <a:spLocks xmlns:a="http://schemas.openxmlformats.org/drawingml/2006/main" noGrp="1"/>
          </p:cNvSpPr>
          <p:nvPr/>
        </p:nvSpPr>
        <p:spPr>
          <a:xfrm xmlns:a="http://schemas.openxmlformats.org/drawingml/2006/main">
            <a:off x="695325" y="5419725"/>
            <a:ext cx="3009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1717"/>
                </a:solidFill>
                <a:latin typeface="Arial"/>
                <a:ea typeface="Arial"/>
                <a:cs typeface="Arial"/>
              </a:defRPr>
            </a:pPr>
            <a:r>
              <a:rPr sz="1800" b="1">
                <a:solidFill>
                  <a:srgbClr val="171717"/>
                </a:solidFill>
                <a:latin typeface="Arial"/>
                <a:ea typeface="Arial"/>
                <a:cs typeface="Arial"/>
              </a:rPr>
              <a:t>PostgreSQL + pgvector</a:t>
            </a:r>
          </a:p>
        </p:txBody>
      </p:sp>
      <p:sp>
        <p:nvSpPr>
          <p:cNvPr id="34" name="Source and curated pages">
            <a:extLst xmlns:a="http://schemas.openxmlformats.org/drawingml/2006/main">
              <a:ext uri="{FF2B5EF4-FFF2-40B4-BE49-F238E27FC236}">
                <a16:creationId xmlns:a16="http://schemas.microsoft.com/office/drawing/2014/main" id="{5542CA49-378D-44CB-8F76-80BFBE9E7038}"/>
              </a:ext>
            </a:extLst>
          </p:cNvPr>
          <p:cNvSpPr>
            <a:spLocks xmlns:a="http://schemas.openxmlformats.org/drawingml/2006/main" noGrp="1"/>
          </p:cNvSpPr>
          <p:nvPr/>
        </p:nvSpPr>
        <p:spPr>
          <a:xfrm xmlns:a="http://schemas.openxmlformats.org/drawingml/2006/main">
            <a:off x="695325" y="5791200"/>
            <a:ext cx="30099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65A5C"/>
                </a:solidFill>
                <a:latin typeface="Arial"/>
                <a:ea typeface="Arial"/>
                <a:cs typeface="Arial"/>
              </a:defRPr>
            </a:pPr>
            <a:r>
              <a:rPr sz="1425" b="0">
                <a:solidFill>
                  <a:srgbClr val="565A5C"/>
                </a:solidFill>
                <a:latin typeface="Arial"/>
                <a:ea typeface="Arial"/>
                <a:cs typeface="Arial"/>
              </a:rPr>
              <a:t>Source and curated pages</a:t>
            </a:r>
          </a:p>
        </p:txBody>
      </p:sp>
      <p:sp>
        <p:nvSpPr>
          <p:cNvPr id="35" name="box">
            <a:extLst xmlns:a="http://schemas.openxmlformats.org/drawingml/2006/main">
              <a:ext uri="{FF2B5EF4-FFF2-40B4-BE49-F238E27FC236}">
                <a16:creationId xmlns:a16="http://schemas.microsoft.com/office/drawing/2014/main" id="{4B31A0FA-1A21-45CA-89BE-31398194223D}"/>
              </a:ext>
            </a:extLst>
          </p:cNvPr>
          <p:cNvSpPr>
            <a:spLocks xmlns:a="http://schemas.openxmlformats.org/drawingml/2006/main" noGrp="1"/>
          </p:cNvSpPr>
          <p:nvPr/>
        </p:nvSpPr>
        <p:spPr>
          <a:xfrm xmlns:a="http://schemas.openxmlformats.org/drawingml/2006/main">
            <a:off x="4324350" y="5276850"/>
            <a:ext cx="3124200" cy="819150"/>
          </a:xfrm>
          <a:prstGeom xmlns:a="http://schemas.openxmlformats.org/drawingml/2006/main" prst="rect">
            <a:avLst/>
          </a:prstGeom>
          <a:solidFill xmlns:a="http://schemas.openxmlformats.org/drawingml/2006/main">
            <a:srgbClr val="F0F6E7"/>
          </a:solidFill>
          <a:ln xmlns:a="http://schemas.openxmlformats.org/drawingml/2006/main" w="9525">
            <a:solidFill>
              <a:srgbClr val="86BC25"/>
            </a:solidFill>
          </a:ln>
        </p:spPr>
      </p:sp>
      <p:sp>
        <p:nvSpPr>
          <p:cNvPr id="36" name="FastAPI + FastMCP">
            <a:extLst xmlns:a="http://schemas.openxmlformats.org/drawingml/2006/main">
              <a:ext uri="{FF2B5EF4-FFF2-40B4-BE49-F238E27FC236}">
                <a16:creationId xmlns:a16="http://schemas.microsoft.com/office/drawing/2014/main" id="{2E0B526B-7E35-4559-8668-9916FC758249}"/>
              </a:ext>
            </a:extLst>
          </p:cNvPr>
          <p:cNvSpPr>
            <a:spLocks xmlns:a="http://schemas.openxmlformats.org/drawingml/2006/main" noGrp="1"/>
          </p:cNvSpPr>
          <p:nvPr/>
        </p:nvSpPr>
        <p:spPr>
          <a:xfrm xmlns:a="http://schemas.openxmlformats.org/drawingml/2006/main">
            <a:off x="4495800" y="5419725"/>
            <a:ext cx="2771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1717"/>
                </a:solidFill>
                <a:latin typeface="Arial"/>
                <a:ea typeface="Arial"/>
                <a:cs typeface="Arial"/>
              </a:defRPr>
            </a:pPr>
            <a:r>
              <a:rPr sz="1800" b="1">
                <a:solidFill>
                  <a:srgbClr val="171717"/>
                </a:solidFill>
                <a:latin typeface="Arial"/>
                <a:ea typeface="Arial"/>
                <a:cs typeface="Arial"/>
              </a:rPr>
              <a:t>FastAPI + FastMCP</a:t>
            </a:r>
          </a:p>
        </p:txBody>
      </p:sp>
      <p:sp>
        <p:nvSpPr>
          <p:cNvPr id="37" name="Access, search and evidence">
            <a:extLst xmlns:a="http://schemas.openxmlformats.org/drawingml/2006/main">
              <a:ext uri="{FF2B5EF4-FFF2-40B4-BE49-F238E27FC236}">
                <a16:creationId xmlns:a16="http://schemas.microsoft.com/office/drawing/2014/main" id="{DDC8CE0E-C114-40F7-9F14-41DAFF20FC54}"/>
              </a:ext>
            </a:extLst>
          </p:cNvPr>
          <p:cNvSpPr>
            <a:spLocks xmlns:a="http://schemas.openxmlformats.org/drawingml/2006/main" noGrp="1"/>
          </p:cNvSpPr>
          <p:nvPr/>
        </p:nvSpPr>
        <p:spPr>
          <a:xfrm xmlns:a="http://schemas.openxmlformats.org/drawingml/2006/main">
            <a:off x="4495800" y="5781675"/>
            <a:ext cx="27717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65A5C"/>
                </a:solidFill>
                <a:latin typeface="Arial"/>
                <a:ea typeface="Arial"/>
                <a:cs typeface="Arial"/>
              </a:defRPr>
            </a:pPr>
            <a:r>
              <a:rPr sz="1425" b="0">
                <a:solidFill>
                  <a:srgbClr val="565A5C"/>
                </a:solidFill>
                <a:latin typeface="Arial"/>
                <a:ea typeface="Arial"/>
                <a:cs typeface="Arial"/>
              </a:rPr>
              <a:t>Access, search and evidence</a:t>
            </a:r>
          </a:p>
        </p:txBody>
      </p:sp>
      <p:sp>
        <p:nvSpPr>
          <p:cNvPr id="38" name="box">
            <a:extLst xmlns:a="http://schemas.openxmlformats.org/drawingml/2006/main">
              <a:ext uri="{FF2B5EF4-FFF2-40B4-BE49-F238E27FC236}">
                <a16:creationId xmlns:a16="http://schemas.microsoft.com/office/drawing/2014/main" id="{92B7BDE2-9001-4CFC-B272-C33E9FB0E6F2}"/>
              </a:ext>
            </a:extLst>
          </p:cNvPr>
          <p:cNvSpPr>
            <a:spLocks xmlns:a="http://schemas.openxmlformats.org/drawingml/2006/main" noGrp="1"/>
          </p:cNvSpPr>
          <p:nvPr/>
        </p:nvSpPr>
        <p:spPr>
          <a:xfrm xmlns:a="http://schemas.openxmlformats.org/drawingml/2006/main">
            <a:off x="7905750" y="5276850"/>
            <a:ext cx="3752850" cy="819150"/>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39" name="People and agents">
            <a:extLst xmlns:a="http://schemas.openxmlformats.org/drawingml/2006/main">
              <a:ext uri="{FF2B5EF4-FFF2-40B4-BE49-F238E27FC236}">
                <a16:creationId xmlns:a16="http://schemas.microsoft.com/office/drawing/2014/main" id="{F480378A-C451-4262-81B8-3D373AB83EB8}"/>
              </a:ext>
            </a:extLst>
          </p:cNvPr>
          <p:cNvSpPr>
            <a:spLocks xmlns:a="http://schemas.openxmlformats.org/drawingml/2006/main" noGrp="1"/>
          </p:cNvSpPr>
          <p:nvPr/>
        </p:nvSpPr>
        <p:spPr>
          <a:xfrm xmlns:a="http://schemas.openxmlformats.org/drawingml/2006/main">
            <a:off x="8086725" y="5419725"/>
            <a:ext cx="3390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1717"/>
                </a:solidFill>
                <a:latin typeface="Arial"/>
                <a:ea typeface="Arial"/>
                <a:cs typeface="Arial"/>
              </a:defRPr>
            </a:pPr>
            <a:r>
              <a:rPr sz="1800" b="1">
                <a:solidFill>
                  <a:srgbClr val="171717"/>
                </a:solidFill>
                <a:latin typeface="Arial"/>
                <a:ea typeface="Arial"/>
                <a:cs typeface="Arial"/>
              </a:rPr>
              <a:t>People and agents</a:t>
            </a:r>
          </a:p>
        </p:txBody>
      </p:sp>
      <p:sp>
        <p:nvSpPr>
          <p:cNvPr id="40" name="Wiki · hybrid search · relationships">
            <a:extLst xmlns:a="http://schemas.openxmlformats.org/drawingml/2006/main">
              <a:ext uri="{FF2B5EF4-FFF2-40B4-BE49-F238E27FC236}">
                <a16:creationId xmlns:a16="http://schemas.microsoft.com/office/drawing/2014/main" id="{1DAD38C7-7BAB-4865-944A-2F0543F9656B}"/>
              </a:ext>
            </a:extLst>
          </p:cNvPr>
          <p:cNvSpPr>
            <a:spLocks xmlns:a="http://schemas.openxmlformats.org/drawingml/2006/main" noGrp="1"/>
          </p:cNvSpPr>
          <p:nvPr/>
        </p:nvSpPr>
        <p:spPr>
          <a:xfrm xmlns:a="http://schemas.openxmlformats.org/drawingml/2006/main">
            <a:off x="8086725" y="5781675"/>
            <a:ext cx="33909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5A5C"/>
                </a:solidFill>
                <a:latin typeface="Arial"/>
                <a:ea typeface="Arial"/>
                <a:cs typeface="Arial"/>
              </a:defRPr>
            </a:pPr>
            <a:r>
              <a:rPr sz="1500" b="0">
                <a:solidFill>
                  <a:srgbClr val="565A5C"/>
                </a:solidFill>
                <a:latin typeface="Arial"/>
                <a:ea typeface="Arial"/>
                <a:cs typeface="Arial"/>
              </a:rPr>
              <a:t>Wiki · hybrid search · relationships</a:t>
            </a:r>
          </a:p>
        </p:txBody>
      </p:sp>
      <p:cxnSp>
        <p:nvCxnSpPr>
          <p:cNvPr id="86" name=""/>
          <p:cNvCxnSpPr>
            <a:stCxn xmlns:a="http://schemas.openxmlformats.org/drawingml/2006/main" id="17" idx="2"/>
            <a:endCxn xmlns:a="http://schemas.openxmlformats.org/drawingml/2006/main" id="32" idx="0"/>
          </p:cNvCxnSpPr>
          <p:nvPr/>
        </p:nvCxnSpPr>
        <p:spPr>
          <a:xfrm xmlns:a="http://schemas.openxmlformats.org/drawingml/2006/main" flipH="1">
            <a:off x="2200275" y="4781550"/>
            <a:ext cx="1704975" cy="495300"/>
          </a:xfrm>
          <a:prstGeom xmlns:a="http://schemas.openxmlformats.org/drawingml/2006/main" prst="bentConnector4">
            <a:avLst>
              <a:gd name="adj1" fmla="val 0"/>
              <a:gd name="adj2" fmla="val 50000"/>
            </a:avLst>
          </a:prstGeom>
          <a:ln xmlns:a="http://schemas.openxmlformats.org/drawingml/2006/main" w="19050">
            <a:solidFill>
              <a:srgbClr val="565A5C"/>
            </a:solidFill>
            <a:prstDash val="solid"/>
            <a:tailEnd type="triangle" w="sm" len="sm"/>
          </a:ln>
        </p:spPr>
      </p:cxnSp>
      <p:cxnSp>
        <p:nvCxnSpPr>
          <p:cNvPr id="87" name=""/>
          <p:cNvCxnSpPr>
            <a:stCxn xmlns:a="http://schemas.openxmlformats.org/drawingml/2006/main" id="23" idx="2"/>
            <a:endCxn xmlns:a="http://schemas.openxmlformats.org/drawingml/2006/main" id="35" idx="0"/>
          </p:cNvCxnSpPr>
          <p:nvPr/>
        </p:nvCxnSpPr>
        <p:spPr>
          <a:xfrm xmlns:a="http://schemas.openxmlformats.org/drawingml/2006/main" flipH="1">
            <a:off x="5886450" y="4781550"/>
            <a:ext cx="4238625" cy="495300"/>
          </a:xfrm>
          <a:prstGeom xmlns:a="http://schemas.openxmlformats.org/drawingml/2006/main" prst="bentConnector4">
            <a:avLst>
              <a:gd name="adj1" fmla="val 0"/>
              <a:gd name="adj2" fmla="val 50000"/>
            </a:avLst>
          </a:prstGeom>
          <a:ln xmlns:a="http://schemas.openxmlformats.org/drawingml/2006/main" w="19050">
            <a:solidFill>
              <a:srgbClr val="565A5C"/>
            </a:solidFill>
            <a:prstDash val="solid"/>
            <a:tailEnd type="triangle" w="sm" len="sm"/>
          </a:ln>
        </p:spPr>
      </p:cxnSp>
      <p:cxnSp>
        <p:nvCxnSpPr>
          <p:cNvPr id="88" name=""/>
          <p:cNvCxnSpPr>
            <a:stCxn xmlns:a="http://schemas.openxmlformats.org/drawingml/2006/main" id="32" idx="3"/>
            <a:endCxn xmlns:a="http://schemas.openxmlformats.org/drawingml/2006/main" id="35" idx="1"/>
          </p:cNvCxnSpPr>
          <p:nvPr/>
        </p:nvCxnSpPr>
        <p:spPr>
          <a:xfrm xmlns:a="http://schemas.openxmlformats.org/drawingml/2006/main">
            <a:off x="3867150" y="5686425"/>
            <a:ext cx="4572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cxnSp>
        <p:nvCxnSpPr>
          <p:cNvPr id="89" name=""/>
          <p:cNvCxnSpPr>
            <a:stCxn xmlns:a="http://schemas.openxmlformats.org/drawingml/2006/main" id="35" idx="3"/>
            <a:endCxn xmlns:a="http://schemas.openxmlformats.org/drawingml/2006/main" id="38" idx="1"/>
          </p:cNvCxnSpPr>
          <p:nvPr/>
        </p:nvCxnSpPr>
        <p:spPr>
          <a:xfrm xmlns:a="http://schemas.openxmlformats.org/drawingml/2006/main">
            <a:off x="7448550" y="5686425"/>
            <a:ext cx="4572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sp>
        <p:nvSpPr>
          <p:cNvPr id="45" name="Domain approval before publication. Wiki, sea">
            <a:extLst xmlns:a="http://schemas.openxmlformats.org/drawingml/2006/main">
              <a:ext uri="{FF2B5EF4-FFF2-40B4-BE49-F238E27FC236}">
                <a16:creationId xmlns:a16="http://schemas.microsoft.com/office/drawing/2014/main" id="{46FD5495-A5C5-4EAE-A432-E567566099B1}"/>
              </a:ext>
            </a:extLst>
          </p:cNvPr>
          <p:cNvSpPr>
            <a:spLocks xmlns:a="http://schemas.openxmlformats.org/drawingml/2006/main" noGrp="1"/>
          </p:cNvSpPr>
          <p:nvPr/>
        </p:nvSpPr>
        <p:spPr>
          <a:xfrm xmlns:a="http://schemas.openxmlformats.org/drawingml/2006/main">
            <a:off x="533400" y="6219825"/>
            <a:ext cx="11096625"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65A5C"/>
                </a:solidFill>
                <a:latin typeface="Arial"/>
                <a:ea typeface="Arial"/>
                <a:cs typeface="Arial"/>
              </a:defRPr>
            </a:pPr>
            <a:r>
              <a:rPr sz="1425" b="0">
                <a:solidFill>
                  <a:srgbClr val="565A5C"/>
                </a:solidFill>
                <a:latin typeface="Arial"/>
                <a:ea typeface="Arial"/>
                <a:cs typeface="Arial"/>
              </a:rPr>
              <a:t>Domain approval before publication. Wiki, search and graph access respect permissions.</a:t>
            </a:r>
          </a:p>
        </p:txBody>
      </p:sp>
    </p:spTree>
    <p:extLst>
      <p:ext uri="{BB962C8B-B14F-4D97-AF65-F5344CB8AC3E}">
        <p14:creationId xmlns:p14="http://schemas.microsoft.com/office/powerpoint/2010/main" val="124348947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Wiki and graph stay connected through their s">
            <a:extLst xmlns:a="http://schemas.openxmlformats.org/drawingml/2006/main">
              <a:ext uri="{FF2B5EF4-FFF2-40B4-BE49-F238E27FC236}">
                <a16:creationId xmlns:a16="http://schemas.microsoft.com/office/drawing/2014/main" id="{3BFB5F38-A746-49E1-BCA8-AB190458E473}"/>
              </a:ext>
            </a:extLst>
          </p:cNvPr>
          <p:cNvSpPr>
            <a:spLocks xmlns:a="http://schemas.openxmlformats.org/drawingml/2006/main" noGrp="1"/>
          </p:cNvSpPr>
          <p:nvPr/>
        </p:nvSpPr>
        <p:spPr>
          <a:xfrm xmlns:a="http://schemas.openxmlformats.org/drawingml/2006/main">
            <a:off x="533400" y="3619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1717"/>
                </a:solidFill>
                <a:latin typeface="Arial"/>
                <a:ea typeface="Arial"/>
                <a:cs typeface="Arial"/>
              </a:defRPr>
            </a:pPr>
            <a:r>
              <a:rPr sz="3000" b="1">
                <a:solidFill>
                  <a:srgbClr val="171717"/>
                </a:solidFill>
                <a:latin typeface="Arial"/>
                <a:ea typeface="Arial"/>
                <a:cs typeface="Arial"/>
              </a:rPr>
              <a:t>Wiki and graph stay connected through their sources</a:t>
            </a:r>
          </a:p>
        </p:txBody>
      </p:sp>
      <p:sp>
        <p:nvSpPr>
          <p:cNvPr id="2" name="Shared IDs, revisions and evidence connect bo">
            <a:extLst xmlns:a="http://schemas.openxmlformats.org/drawingml/2006/main">
              <a:ext uri="{FF2B5EF4-FFF2-40B4-BE49-F238E27FC236}">
                <a16:creationId xmlns:a16="http://schemas.microsoft.com/office/drawing/2014/main" id="{203A86B2-505C-42F4-A979-EFFC21CBB824}"/>
              </a:ext>
            </a:extLst>
          </p:cNvPr>
          <p:cNvSpPr>
            <a:spLocks xmlns:a="http://schemas.openxmlformats.org/drawingml/2006/main" noGrp="1"/>
          </p:cNvSpPr>
          <p:nvPr/>
        </p:nvSpPr>
        <p:spPr>
          <a:xfrm xmlns:a="http://schemas.openxmlformats.org/drawingml/2006/main">
            <a:off x="533400" y="9906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65A5C"/>
                </a:solidFill>
                <a:latin typeface="Arial"/>
                <a:ea typeface="Arial"/>
                <a:cs typeface="Arial"/>
              </a:defRPr>
            </a:pPr>
            <a:r>
              <a:rPr sz="1725" b="0">
                <a:solidFill>
                  <a:srgbClr val="565A5C"/>
                </a:solidFill>
                <a:latin typeface="Arial"/>
                <a:ea typeface="Arial"/>
                <a:cs typeface="Arial"/>
              </a:rPr>
              <a:t>Shared IDs, revisions and evidence connect both workstreams.</a:t>
            </a:r>
          </a:p>
        </p:txBody>
      </p:sp>
      <p:sp>
        <p:nvSpPr>
          <p:cNvPr id="3" name="">
            <a:extLst xmlns:a="http://schemas.openxmlformats.org/drawingml/2006/main">
              <a:ext uri="{FF2B5EF4-FFF2-40B4-BE49-F238E27FC236}">
                <a16:creationId xmlns:a16="http://schemas.microsoft.com/office/drawing/2014/main" id="{685A6D94-303E-401E-A21A-22A67B61755F}"/>
              </a:ext>
            </a:extLst>
          </p:cNvPr>
          <p:cNvSpPr>
            <a:spLocks xmlns:a="http://schemas.openxmlformats.org/drawingml/2006/main" noGrp="1"/>
          </p:cNvSpPr>
          <p:nvPr/>
        </p:nvSpPr>
        <p:spPr>
          <a:xfrm xmlns:a="http://schemas.openxmlformats.org/drawingml/2006/main">
            <a:off x="533400" y="6477000"/>
            <a:ext cx="111252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4" name="Daiichi Sankyo | Enterprise Knowledge Base">
            <a:extLst xmlns:a="http://schemas.openxmlformats.org/drawingml/2006/main">
              <a:ext uri="{FF2B5EF4-FFF2-40B4-BE49-F238E27FC236}">
                <a16:creationId xmlns:a16="http://schemas.microsoft.com/office/drawing/2014/main" id="{17261CDB-7D5D-4EB2-8129-FC4D9B62DA6F}"/>
              </a:ext>
            </a:extLst>
          </p:cNvPr>
          <p:cNvSpPr>
            <a:spLocks xmlns:a="http://schemas.openxmlformats.org/drawingml/2006/main" noGrp="1"/>
          </p:cNvSpPr>
          <p:nvPr/>
        </p:nvSpPr>
        <p:spPr>
          <a:xfrm xmlns:a="http://schemas.openxmlformats.org/drawingml/2006/main">
            <a:off x="533400" y="6572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65A5C"/>
                </a:solidFill>
                <a:latin typeface="Arial"/>
                <a:ea typeface="Arial"/>
                <a:cs typeface="Arial"/>
              </a:defRPr>
            </a:pPr>
            <a:r>
              <a:rPr sz="1050" b="0">
                <a:solidFill>
                  <a:srgbClr val="565A5C"/>
                </a:solidFill>
                <a:latin typeface="Arial"/>
                <a:ea typeface="Arial"/>
                <a:cs typeface="Arial"/>
              </a:rPr>
              <a:t>Daiichi Sankyo | Enterprise Knowledge Base</a:t>
            </a:r>
          </a:p>
        </p:txBody>
      </p:sp>
      <p:sp>
        <p:nvSpPr>
          <p:cNvPr id="5" name="02">
            <a:extLst xmlns:a="http://schemas.openxmlformats.org/drawingml/2006/main">
              <a:ext uri="{FF2B5EF4-FFF2-40B4-BE49-F238E27FC236}">
                <a16:creationId xmlns:a16="http://schemas.microsoft.com/office/drawing/2014/main" id="{3FD078F8-3809-4BA9-B6FB-B73A3F47D2BE}"/>
              </a:ext>
            </a:extLst>
          </p:cNvPr>
          <p:cNvSpPr>
            <a:spLocks xmlns:a="http://schemas.openxmlformats.org/drawingml/2006/main" noGrp="1"/>
          </p:cNvSpPr>
          <p:nvPr/>
        </p:nvSpPr>
        <p:spPr>
          <a:xfrm xmlns:a="http://schemas.openxmlformats.org/drawingml/2006/main">
            <a:off x="11277600" y="65341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5A5C"/>
                </a:solidFill>
                <a:latin typeface="Arial"/>
                <a:ea typeface="Arial"/>
                <a:cs typeface="Arial"/>
              </a:defRPr>
            </a:pPr>
            <a:r>
              <a:rPr sz="1275" b="0">
                <a:solidFill>
                  <a:srgbClr val="565A5C"/>
                </a:solidFill>
                <a:latin typeface="Arial"/>
                <a:ea typeface="Arial"/>
                <a:cs typeface="Arial"/>
              </a:rPr>
              <a:t>02</a:t>
            </a:r>
          </a:p>
        </p:txBody>
      </p:sp>
      <p:graphicFrame>
        <p:nvGraphicFramePr>
          <p:cNvPr id="15" name=""/>
          <p:cNvGraphicFramePr/>
          <p:nvPr/>
        </p:nvGraphicFramePr>
        <p:xfrm>
          <a:off xmlns:a="http://schemas.openxmlformats.org/drawingml/2006/main" x="533400" y="1514475"/>
          <a:ext xmlns:a="http://schemas.openxmlformats.org/drawingml/2006/main" cx="11125200" cy="3800475"/>
        </p:xfrm>
        <a:graphic xmlns:a="http://schemas.openxmlformats.org/drawingml/2006/main">
          <a:graphicData uri="http://schemas.openxmlformats.org/drawingml/2006/table">
            <a:tbl>
              <a:tblPr firstRow="0" firstCol="0" bandRow="0"/>
              <a:tblGrid>
                <a:gridCol w="2228850"/>
                <a:gridCol w="4448175"/>
                <a:gridCol w="4448175"/>
              </a:tblGrid>
              <a:tr h="485775">
                <a:tc>
                  <a:txBody>
                    <a:bodyPr wrap="square" lIns="152400" tIns="95250" rIns="152400" bIns="95250">
                      <a:noAutofit/>
                    </a:bodyPr>
                    <a:lstStyle/>
                    <a:p>
                      <a:pPr algn="l"/>
                      <a:r>
                        <a:rPr sz="1650" b="1">
                          <a:solidFill>
                            <a:srgbClr val="FFFFFF"/>
                          </a:solidFill>
                          <a:latin typeface="Arial"/>
                          <a:ea typeface="Arial"/>
                          <a:cs typeface="Arial"/>
                        </a:rPr>
                        <a:t>Connection</a:t>
                      </a:r>
                    </a:p>
                  </a:txBody>
                  <a:tcPr marL="91440" marR="91440" marT="45720" marB="45720" anchor="ctr">
                    <a:solidFill>
                      <a:srgbClr val="171717"/>
                    </a:solidFill>
                  </a:tcPr>
                </a:tc>
                <a:tc>
                  <a:txBody>
                    <a:bodyPr wrap="square" lIns="152400" tIns="95250" rIns="152400" bIns="95250">
                      <a:noAutofit/>
                    </a:bodyPr>
                    <a:lstStyle/>
                    <a:p>
                      <a:pPr algn="l"/>
                      <a:r>
                        <a:rPr sz="1650" b="1">
                          <a:solidFill>
                            <a:srgbClr val="FFFFFF"/>
                          </a:solidFill>
                          <a:latin typeface="Arial"/>
                          <a:ea typeface="Arial"/>
                          <a:cs typeface="Arial"/>
                        </a:rPr>
                        <a:t>Deloitte</a:t>
                      </a:r>
                    </a:p>
                  </a:txBody>
                  <a:tcPr marL="91440" marR="91440" marT="45720" marB="45720" anchor="ctr">
                    <a:solidFill>
                      <a:srgbClr val="171717"/>
                    </a:solidFill>
                  </a:tcPr>
                </a:tc>
                <a:tc>
                  <a:txBody>
                    <a:bodyPr wrap="square" lIns="152400" tIns="95250" rIns="152400" bIns="95250">
                      <a:noAutofit/>
                    </a:bodyPr>
                    <a:lstStyle/>
                    <a:p>
                      <a:pPr algn="l"/>
                      <a:r>
                        <a:rPr sz="1650" b="1">
                          <a:solidFill>
                            <a:srgbClr val="FFFFFF"/>
                          </a:solidFill>
                          <a:latin typeface="Arial"/>
                          <a:ea typeface="Arial"/>
                          <a:cs typeface="Arial"/>
                        </a:rPr>
                        <a:t>Graphwise</a:t>
                      </a:r>
                    </a:p>
                  </a:txBody>
                  <a:tcPr marL="91440" marR="91440" marT="45720" marB="45720" anchor="ctr">
                    <a:solidFill>
                      <a:srgbClr val="171717"/>
                    </a:solidFill>
                  </a:tcPr>
                </a:tc>
              </a:tr>
              <a:tr h="828675">
                <a:tc>
                  <a:txBody>
                    <a:bodyPr wrap="square" lIns="152400" tIns="95250" rIns="152400" bIns="95250">
                      <a:noAutofit/>
                    </a:bodyPr>
                    <a:lstStyle/>
                    <a:p>
                      <a:pPr algn="l"/>
                      <a:r>
                        <a:rPr sz="1650" b="1">
                          <a:solidFill>
                            <a:srgbClr val="171717"/>
                          </a:solidFill>
                          <a:latin typeface="Arial"/>
                          <a:ea typeface="Arial"/>
                          <a:cs typeface="Arial"/>
                        </a:rPr>
                        <a:t>Hand over documents</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Supplies Markdown, document ID, revision, evidence and access scope.</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Processes the corpus into concepts, entities and relationships.</a:t>
                      </a:r>
                    </a:p>
                  </a:txBody>
                  <a:tcPr marL="91440" marR="91440" marT="45720" marB="45720" anchor="ctr">
                    <a:solidFill>
                      <a:srgbClr val="F4F5F3"/>
                    </a:solidFill>
                  </a:tcPr>
                </a:tc>
              </a:tr>
              <a:tr h="828675">
                <a:tc>
                  <a:txBody>
                    <a:bodyPr wrap="square" lIns="152400" tIns="95250" rIns="152400" bIns="95250">
                      <a:noAutofit/>
                    </a:bodyPr>
                    <a:lstStyle/>
                    <a:p>
                      <a:pPr algn="l"/>
                      <a:r>
                        <a:rPr sz="1650" b="1">
                          <a:solidFill>
                            <a:srgbClr val="171717"/>
                          </a:solidFill>
                          <a:latin typeface="Arial"/>
                          <a:ea typeface="Arial"/>
                          <a:cs typeface="Arial"/>
                        </a:rPr>
                        <a:t>Enrich knowledge</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Takes reviewed annotations and uses context for wiki drafts.</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Supplies tags, entity references and relationships with evidence.</a:t>
                      </a:r>
                    </a:p>
                  </a:txBody>
                  <a:tcPr marL="91440" marR="91440" marT="45720" marB="45720" anchor="ctr">
                    <a:solidFill>
                      <a:srgbClr val="FFFFFF"/>
                    </a:solidFill>
                  </a:tcPr>
                </a:tc>
              </a:tr>
              <a:tr h="828675">
                <a:tc>
                  <a:txBody>
                    <a:bodyPr wrap="square" lIns="152400" tIns="95250" rIns="152400" bIns="95250">
                      <a:noAutofit/>
                    </a:bodyPr>
                    <a:lstStyle/>
                    <a:p>
                      <a:pPr algn="l"/>
                      <a:r>
                        <a:rPr sz="1650" b="1">
                          <a:solidFill>
                            <a:srgbClr val="171717"/>
                          </a:solidFill>
                          <a:latin typeface="Arial"/>
                          <a:ea typeface="Arial"/>
                          <a:cs typeface="Arial"/>
                        </a:rPr>
                        <a:t>Use knowledge</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Combines text results and graph context for wiki, search and agents.</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Provides relationship queries with source evidence and status.</a:t>
                      </a:r>
                    </a:p>
                  </a:txBody>
                  <a:tcPr marL="91440" marR="91440" marT="45720" marB="45720" anchor="ctr">
                    <a:solidFill>
                      <a:srgbClr val="F4F5F3"/>
                    </a:solidFill>
                  </a:tcPr>
                </a:tc>
              </a:tr>
              <a:tr h="828675">
                <a:tc>
                  <a:txBody>
                    <a:bodyPr wrap="square" lIns="152400" tIns="95250" rIns="152400" bIns="95250">
                      <a:noAutofit/>
                    </a:bodyPr>
                    <a:lstStyle/>
                    <a:p>
                      <a:pPr algn="l"/>
                      <a:r>
                        <a:rPr sz="1650" b="1">
                          <a:solidFill>
                            <a:srgbClr val="171717"/>
                          </a:solidFill>
                          <a:latin typeface="Arial"/>
                          <a:ea typeface="Arial"/>
                          <a:cs typeface="Arial"/>
                        </a:rPr>
                        <a:t>Handle changes</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Reports source changes and withdrawals; updates wiki and search.</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Updates or blocks affected assertions and confirms the revision.</a:t>
                      </a:r>
                    </a:p>
                  </a:txBody>
                  <a:tcPr marL="91440" marR="91440" marT="45720" marB="45720" anchor="ctr">
                    <a:solidFill>
                      <a:srgbClr val="FFFFFF"/>
                    </a:solidFill>
                  </a:tcPr>
                </a:tc>
              </a:tr>
            </a:tbl>
          </a:graphicData>
        </a:graphic>
      </p:graphicFrame>
      <p:sp>
        <p:nvSpPr>
          <p:cNvPr id="7" name="One page can describe many entities.">
            <a:extLst xmlns:a="http://schemas.openxmlformats.org/drawingml/2006/main">
              <a:ext uri="{FF2B5EF4-FFF2-40B4-BE49-F238E27FC236}">
                <a16:creationId xmlns:a16="http://schemas.microsoft.com/office/drawing/2014/main" id="{785DB463-88A5-4FBD-A240-ADD1722C69C0}"/>
              </a:ext>
            </a:extLst>
          </p:cNvPr>
          <p:cNvSpPr>
            <a:spLocks xmlns:a="http://schemas.openxmlformats.org/drawingml/2006/main" noGrp="1"/>
          </p:cNvSpPr>
          <p:nvPr/>
        </p:nvSpPr>
        <p:spPr>
          <a:xfrm xmlns:a="http://schemas.openxmlformats.org/drawingml/2006/main">
            <a:off x="533400" y="5572125"/>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1717"/>
                </a:solidFill>
                <a:latin typeface="Arial"/>
                <a:ea typeface="Arial"/>
                <a:cs typeface="Arial"/>
              </a:defRPr>
            </a:pPr>
            <a:r>
              <a:rPr sz="1800" b="1">
                <a:solidFill>
                  <a:srgbClr val="171717"/>
                </a:solidFill>
                <a:latin typeface="Arial"/>
                <a:ea typeface="Arial"/>
                <a:cs typeface="Arial"/>
              </a:rPr>
              <a:t>One page can describe many entities.</a:t>
            </a:r>
          </a:p>
        </p:txBody>
      </p:sp>
      <p:sp>
        <p:nvSpPr>
          <p:cNvPr id="8" name="One entity can appear on many pages.">
            <a:extLst xmlns:a="http://schemas.openxmlformats.org/drawingml/2006/main">
              <a:ext uri="{FF2B5EF4-FFF2-40B4-BE49-F238E27FC236}">
                <a16:creationId xmlns:a16="http://schemas.microsoft.com/office/drawing/2014/main" id="{8F5FE0AF-5537-4104-ABC7-6796A43224E3}"/>
              </a:ext>
            </a:extLst>
          </p:cNvPr>
          <p:cNvSpPr>
            <a:spLocks xmlns:a="http://schemas.openxmlformats.org/drawingml/2006/main" noGrp="1"/>
          </p:cNvSpPr>
          <p:nvPr/>
        </p:nvSpPr>
        <p:spPr>
          <a:xfrm xmlns:a="http://schemas.openxmlformats.org/drawingml/2006/main">
            <a:off x="6248400" y="5572125"/>
            <a:ext cx="5410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1717"/>
                </a:solidFill>
                <a:latin typeface="Arial"/>
                <a:ea typeface="Arial"/>
                <a:cs typeface="Arial"/>
              </a:defRPr>
            </a:pPr>
            <a:r>
              <a:rPr sz="1800" b="1">
                <a:solidFill>
                  <a:srgbClr val="171717"/>
                </a:solidFill>
                <a:latin typeface="Arial"/>
                <a:ea typeface="Arial"/>
                <a:cs typeface="Arial"/>
              </a:rPr>
              <a:t>One entity can appear on many pages.</a:t>
            </a:r>
          </a:p>
        </p:txBody>
      </p:sp>
      <p:sp>
        <p:nvSpPr>
          <p:cNvPr id="9" name="Domain owners at Daiichi Sankyo approve asser">
            <a:extLst xmlns:a="http://schemas.openxmlformats.org/drawingml/2006/main">
              <a:ext uri="{FF2B5EF4-FFF2-40B4-BE49-F238E27FC236}">
                <a16:creationId xmlns:a16="http://schemas.microsoft.com/office/drawing/2014/main" id="{E94215E0-E2F5-4EB4-8717-150822297521}"/>
              </a:ext>
            </a:extLst>
          </p:cNvPr>
          <p:cNvSpPr>
            <a:spLocks xmlns:a="http://schemas.openxmlformats.org/drawingml/2006/main" noGrp="1"/>
          </p:cNvSpPr>
          <p:nvPr/>
        </p:nvSpPr>
        <p:spPr>
          <a:xfrm xmlns:a="http://schemas.openxmlformats.org/drawingml/2006/main">
            <a:off x="533400" y="60198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Domain owners at Daiichi Sankyo approve assertions. Source evidence is preserved across both systems.</a:t>
            </a:r>
          </a:p>
        </p:txBody>
      </p:sp>
    </p:spTree>
    <p:extLst>
      <p:ext uri="{BB962C8B-B14F-4D97-AF65-F5344CB8AC3E}">
        <p14:creationId xmlns:p14="http://schemas.microsoft.com/office/powerpoint/2010/main" val="134413199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wo proposal options, one shared knowledge Po">
            <a:extLst xmlns:a="http://schemas.openxmlformats.org/drawingml/2006/main">
              <a:ext uri="{FF2B5EF4-FFF2-40B4-BE49-F238E27FC236}">
                <a16:creationId xmlns:a16="http://schemas.microsoft.com/office/drawing/2014/main" id="{768AF23F-98C8-4ADB-91E7-F0019DBA546E}"/>
              </a:ext>
            </a:extLst>
          </p:cNvPr>
          <p:cNvSpPr>
            <a:spLocks xmlns:a="http://schemas.openxmlformats.org/drawingml/2006/main" noGrp="1"/>
          </p:cNvSpPr>
          <p:nvPr/>
        </p:nvSpPr>
        <p:spPr>
          <a:xfrm xmlns:a="http://schemas.openxmlformats.org/drawingml/2006/main">
            <a:off x="533400" y="3619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1717"/>
                </a:solidFill>
                <a:latin typeface="Arial"/>
                <a:ea typeface="Arial"/>
                <a:cs typeface="Arial"/>
              </a:defRPr>
            </a:pPr>
            <a:r>
              <a:rPr sz="3000" b="1">
                <a:solidFill>
                  <a:srgbClr val="171717"/>
                </a:solidFill>
                <a:latin typeface="Arial"/>
                <a:ea typeface="Arial"/>
                <a:cs typeface="Arial"/>
              </a:rPr>
              <a:t>Two proposal options, one shared knowledge PoC</a:t>
            </a:r>
          </a:p>
        </p:txBody>
      </p:sp>
      <p:sp>
        <p:nvSpPr>
          <p:cNvPr id="2" name="Both options run for twelve weeks, including">
            <a:extLst xmlns:a="http://schemas.openxmlformats.org/drawingml/2006/main">
              <a:ext uri="{FF2B5EF4-FFF2-40B4-BE49-F238E27FC236}">
                <a16:creationId xmlns:a16="http://schemas.microsoft.com/office/drawing/2014/main" id="{8DB3C5F2-282D-4559-866B-19A266D179B0}"/>
              </a:ext>
            </a:extLst>
          </p:cNvPr>
          <p:cNvSpPr>
            <a:spLocks xmlns:a="http://schemas.openxmlformats.org/drawingml/2006/main" noGrp="1"/>
          </p:cNvSpPr>
          <p:nvPr/>
        </p:nvSpPr>
        <p:spPr>
          <a:xfrm xmlns:a="http://schemas.openxmlformats.org/drawingml/2006/main">
            <a:off x="533400" y="9906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65A5C"/>
                </a:solidFill>
                <a:latin typeface="Arial"/>
                <a:ea typeface="Arial"/>
                <a:cs typeface="Arial"/>
              </a:defRPr>
            </a:pPr>
            <a:r>
              <a:rPr sz="1725" b="0">
                <a:solidFill>
                  <a:srgbClr val="565A5C"/>
                </a:solidFill>
                <a:latin typeface="Arial"/>
                <a:ea typeface="Arial"/>
                <a:cs typeface="Arial"/>
              </a:rPr>
              <a:t>Both options run for twelve weeks, including two weeks of discovery.</a:t>
            </a:r>
          </a:p>
        </p:txBody>
      </p:sp>
      <p:sp>
        <p:nvSpPr>
          <p:cNvPr id="3" name="">
            <a:extLst xmlns:a="http://schemas.openxmlformats.org/drawingml/2006/main">
              <a:ext uri="{FF2B5EF4-FFF2-40B4-BE49-F238E27FC236}">
                <a16:creationId xmlns:a16="http://schemas.microsoft.com/office/drawing/2014/main" id="{01F7ACB6-34F6-4092-B9B1-FC48D677AB62}"/>
              </a:ext>
            </a:extLst>
          </p:cNvPr>
          <p:cNvSpPr>
            <a:spLocks xmlns:a="http://schemas.openxmlformats.org/drawingml/2006/main" noGrp="1"/>
          </p:cNvSpPr>
          <p:nvPr/>
        </p:nvSpPr>
        <p:spPr>
          <a:xfrm xmlns:a="http://schemas.openxmlformats.org/drawingml/2006/main">
            <a:off x="533400" y="6477000"/>
            <a:ext cx="111252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4" name="Daiichi Sankyo | Enterprise Knowledge Base">
            <a:extLst xmlns:a="http://schemas.openxmlformats.org/drawingml/2006/main">
              <a:ext uri="{FF2B5EF4-FFF2-40B4-BE49-F238E27FC236}">
                <a16:creationId xmlns:a16="http://schemas.microsoft.com/office/drawing/2014/main" id="{0A73F097-1277-4A4C-8A8C-4EE03B8D1706}"/>
              </a:ext>
            </a:extLst>
          </p:cNvPr>
          <p:cNvSpPr>
            <a:spLocks xmlns:a="http://schemas.openxmlformats.org/drawingml/2006/main" noGrp="1"/>
          </p:cNvSpPr>
          <p:nvPr/>
        </p:nvSpPr>
        <p:spPr>
          <a:xfrm xmlns:a="http://schemas.openxmlformats.org/drawingml/2006/main">
            <a:off x="533400" y="6572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65A5C"/>
                </a:solidFill>
                <a:latin typeface="Arial"/>
                <a:ea typeface="Arial"/>
                <a:cs typeface="Arial"/>
              </a:defRPr>
            </a:pPr>
            <a:r>
              <a:rPr sz="1050" b="0">
                <a:solidFill>
                  <a:srgbClr val="565A5C"/>
                </a:solidFill>
                <a:latin typeface="Arial"/>
                <a:ea typeface="Arial"/>
                <a:cs typeface="Arial"/>
              </a:rPr>
              <a:t>Daiichi Sankyo | Enterprise Knowledge Base</a:t>
            </a:r>
          </a:p>
        </p:txBody>
      </p:sp>
      <p:sp>
        <p:nvSpPr>
          <p:cNvPr id="5" name="03">
            <a:extLst xmlns:a="http://schemas.openxmlformats.org/drawingml/2006/main">
              <a:ext uri="{FF2B5EF4-FFF2-40B4-BE49-F238E27FC236}">
                <a16:creationId xmlns:a16="http://schemas.microsoft.com/office/drawing/2014/main" id="{1BB737E2-0420-4553-A5DB-05844D090DBD}"/>
              </a:ext>
            </a:extLst>
          </p:cNvPr>
          <p:cNvSpPr>
            <a:spLocks xmlns:a="http://schemas.openxmlformats.org/drawingml/2006/main" noGrp="1"/>
          </p:cNvSpPr>
          <p:nvPr/>
        </p:nvSpPr>
        <p:spPr>
          <a:xfrm xmlns:a="http://schemas.openxmlformats.org/drawingml/2006/main">
            <a:off x="11277600" y="65341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5A5C"/>
                </a:solidFill>
                <a:latin typeface="Arial"/>
                <a:ea typeface="Arial"/>
                <a:cs typeface="Arial"/>
              </a:defRPr>
            </a:pPr>
            <a:r>
              <a:rPr sz="1275" b="0">
                <a:solidFill>
                  <a:srgbClr val="565A5C"/>
                </a:solidFill>
                <a:latin typeface="Arial"/>
                <a:ea typeface="Arial"/>
                <a:cs typeface="Arial"/>
              </a:rPr>
              <a:t>03</a:t>
            </a:r>
          </a:p>
        </p:txBody>
      </p:sp>
      <p:sp>
        <p:nvSpPr>
          <p:cNvPr id="6" name="box">
            <a:extLst xmlns:a="http://schemas.openxmlformats.org/drawingml/2006/main">
              <a:ext uri="{FF2B5EF4-FFF2-40B4-BE49-F238E27FC236}">
                <a16:creationId xmlns:a16="http://schemas.microsoft.com/office/drawing/2014/main" id="{4DC19E11-6BB0-4CCB-85EA-0B63D2BA1349}"/>
              </a:ext>
            </a:extLst>
          </p:cNvPr>
          <p:cNvSpPr>
            <a:spLocks xmlns:a="http://schemas.openxmlformats.org/drawingml/2006/main" noGrp="1"/>
          </p:cNvSpPr>
          <p:nvPr/>
        </p:nvSpPr>
        <p:spPr>
          <a:xfrm xmlns:a="http://schemas.openxmlformats.org/drawingml/2006/main">
            <a:off x="533400" y="1476375"/>
            <a:ext cx="11125200" cy="619125"/>
          </a:xfrm>
          <a:prstGeom xmlns:a="http://schemas.openxmlformats.org/drawingml/2006/main" prst="rect">
            <a:avLst/>
          </a:prstGeom>
          <a:solidFill xmlns:a="http://schemas.openxmlformats.org/drawingml/2006/main">
            <a:srgbClr val="F0F6E7"/>
          </a:solidFill>
          <a:ln xmlns:a="http://schemas.openxmlformats.org/drawingml/2006/main" w="0">
            <a:solidFill>
              <a:srgbClr val="F0F6E7"/>
            </a:solidFill>
          </a:ln>
        </p:spPr>
      </p:sp>
      <p:sp>
        <p:nvSpPr>
          <p:cNvPr id="7" name="Shared core">
            <a:extLst xmlns:a="http://schemas.openxmlformats.org/drawingml/2006/main">
              <a:ext uri="{FF2B5EF4-FFF2-40B4-BE49-F238E27FC236}">
                <a16:creationId xmlns:a16="http://schemas.microsoft.com/office/drawing/2014/main" id="{17BD87AE-4ABA-4EF9-8626-74222E60268C}"/>
              </a:ext>
            </a:extLst>
          </p:cNvPr>
          <p:cNvSpPr>
            <a:spLocks xmlns:a="http://schemas.openxmlformats.org/drawingml/2006/main" noGrp="1"/>
          </p:cNvSpPr>
          <p:nvPr/>
        </p:nvSpPr>
        <p:spPr>
          <a:xfrm xmlns:a="http://schemas.openxmlformats.org/drawingml/2006/main">
            <a:off x="704850" y="1619250"/>
            <a:ext cx="22288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a:solidFill>
                  <a:srgbClr val="171717"/>
                </a:solidFill>
                <a:latin typeface="Arial"/>
                <a:ea typeface="Arial"/>
                <a:cs typeface="Arial"/>
              </a:defRPr>
            </a:pPr>
            <a:r>
              <a:rPr sz="1725" b="1">
                <a:solidFill>
                  <a:srgbClr val="171717"/>
                </a:solidFill>
                <a:latin typeface="Arial"/>
                <a:ea typeface="Arial"/>
                <a:cs typeface="Arial"/>
              </a:rPr>
              <a:t>Shared core</a:t>
            </a:r>
          </a:p>
        </p:txBody>
      </p:sp>
      <p:sp>
        <p:nvSpPr>
          <p:cNvPr id="8" name="LLM wiki with approval, hybrid search, eviden">
            <a:extLst xmlns:a="http://schemas.openxmlformats.org/drawingml/2006/main">
              <a:ext uri="{FF2B5EF4-FFF2-40B4-BE49-F238E27FC236}">
                <a16:creationId xmlns:a16="http://schemas.microsoft.com/office/drawing/2014/main" id="{69BA75D4-7392-4F35-9A10-530E3FC05827}"/>
              </a:ext>
            </a:extLst>
          </p:cNvPr>
          <p:cNvSpPr>
            <a:spLocks xmlns:a="http://schemas.openxmlformats.org/drawingml/2006/main" noGrp="1"/>
          </p:cNvSpPr>
          <p:nvPr/>
        </p:nvSpPr>
        <p:spPr>
          <a:xfrm xmlns:a="http://schemas.openxmlformats.org/drawingml/2006/main">
            <a:off x="3009900" y="1619250"/>
            <a:ext cx="84486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171717"/>
                </a:solidFill>
                <a:latin typeface="Arial"/>
                <a:ea typeface="Arial"/>
                <a:cs typeface="Arial"/>
              </a:defRPr>
            </a:pPr>
            <a:r>
              <a:rPr sz="1800" b="0">
                <a:solidFill>
                  <a:srgbClr val="171717"/>
                </a:solidFill>
                <a:latin typeface="Arial"/>
                <a:ea typeface="Arial"/>
                <a:cs typeface="Arial"/>
              </a:rPr>
              <a:t>LLM wiki with approval, hybrid search, evidence and MCP access</a:t>
            </a:r>
          </a:p>
        </p:txBody>
      </p:sp>
      <p:graphicFrame>
        <p:nvGraphicFramePr>
          <p:cNvPr id="19" name=""/>
          <p:cNvGraphicFramePr/>
          <p:nvPr/>
        </p:nvGraphicFramePr>
        <p:xfrm>
          <a:off xmlns:a="http://schemas.openxmlformats.org/drawingml/2006/main" x="533400" y="2305050"/>
          <a:ext xmlns:a="http://schemas.openxmlformats.org/drawingml/2006/main" cx="11125200" cy="3543300"/>
        </p:xfrm>
        <a:graphic xmlns:a="http://schemas.openxmlformats.org/drawingml/2006/main">
          <a:graphicData uri="http://schemas.openxmlformats.org/drawingml/2006/table">
            <a:tbl>
              <a:tblPr firstRow="0" firstCol="0" bandRow="0"/>
              <a:tblGrid>
                <a:gridCol w="2047875"/>
                <a:gridCol w="4538663"/>
                <a:gridCol w="4538663"/>
              </a:tblGrid>
              <a:tr h="476250">
                <a:tc>
                  <a:txBody>
                    <a:bodyPr wrap="square" lIns="152400" tIns="95250" rIns="152400" bIns="95250">
                      <a:noAutofit/>
                    </a:bodyPr>
                    <a:lstStyle/>
                    <a:p>
                      <a:r>
                        <a:rPr sz="1650" b="1">
                          <a:solidFill>
                            <a:srgbClr val="FFFFFF"/>
                          </a:solidFill>
                          <a:latin typeface="Arial"/>
                          <a:ea typeface="Arial"/>
                          <a:cs typeface="Arial"/>
                        </a:rPr>
                        <a:t/>
                      </a:r>
                    </a:p>
                  </a:txBody>
                  <a:tcPr marL="91440" marR="91440" marT="45720" marB="45720" anchor="ctr">
                    <a:solidFill>
                      <a:srgbClr val="171717"/>
                    </a:solidFill>
                  </a:tcPr>
                </a:tc>
                <a:tc>
                  <a:txBody>
                    <a:bodyPr wrap="square" lIns="152400" tIns="95250" rIns="152400" bIns="95250">
                      <a:noAutofit/>
                    </a:bodyPr>
                    <a:lstStyle/>
                    <a:p>
                      <a:pPr algn="l"/>
                      <a:r>
                        <a:rPr sz="1650" b="1">
                          <a:solidFill>
                            <a:srgbClr val="FFFFFF"/>
                          </a:solidFill>
                          <a:latin typeface="Arial"/>
                          <a:ea typeface="Arial"/>
                          <a:cs typeface="Arial"/>
                        </a:rPr>
                        <a:t>A · With base graph</a:t>
                      </a:r>
                    </a:p>
                  </a:txBody>
                  <a:tcPr marL="91440" marR="91440" marT="45720" marB="45720" anchor="ctr">
                    <a:solidFill>
                      <a:srgbClr val="171717"/>
                    </a:solidFill>
                  </a:tcPr>
                </a:tc>
                <a:tc>
                  <a:txBody>
                    <a:bodyPr wrap="square" lIns="152400" tIns="95250" rIns="152400" bIns="95250">
                      <a:noAutofit/>
                    </a:bodyPr>
                    <a:lstStyle/>
                    <a:p>
                      <a:pPr algn="l"/>
                      <a:r>
                        <a:rPr sz="1650" b="1">
                          <a:solidFill>
                            <a:srgbClr val="FFFFFF"/>
                          </a:solidFill>
                          <a:latin typeface="Arial"/>
                          <a:ea typeface="Arial"/>
                          <a:cs typeface="Arial"/>
                        </a:rPr>
                        <a:t>B · With Graphwise</a:t>
                      </a:r>
                    </a:p>
                  </a:txBody>
                  <a:tcPr marL="91440" marR="91440" marT="45720" marB="45720" anchor="ctr">
                    <a:solidFill>
                      <a:srgbClr val="171717"/>
                    </a:solidFill>
                  </a:tcPr>
                </a:tc>
              </a:tr>
              <a:tr h="790575">
                <a:tc>
                  <a:txBody>
                    <a:bodyPr wrap="square" lIns="152400" tIns="95250" rIns="152400" bIns="95250">
                      <a:noAutofit/>
                    </a:bodyPr>
                    <a:lstStyle/>
                    <a:p>
                      <a:pPr algn="l"/>
                      <a:r>
                        <a:rPr sz="1650" b="1">
                          <a:solidFill>
                            <a:srgbClr val="171717"/>
                          </a:solidFill>
                          <a:latin typeface="Arial"/>
                          <a:ea typeface="Arial"/>
                          <a:cs typeface="Arial"/>
                        </a:rPr>
                        <a:t>Graph scope</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A few reviewed relationship types; versioned metadata and PostgreSQL.</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Taxonomy, entity resolution and evidenced relationships in GraphDB.</a:t>
                      </a:r>
                    </a:p>
                  </a:txBody>
                  <a:tcPr marL="91440" marR="91440" marT="45720" marB="45720" anchor="ctr">
                    <a:solidFill>
                      <a:srgbClr val="F4F5F3"/>
                    </a:solidFill>
                  </a:tcPr>
                </a:tc>
              </a:tr>
              <a:tr h="742950">
                <a:tc>
                  <a:txBody>
                    <a:bodyPr wrap="square" lIns="152400" tIns="95250" rIns="152400" bIns="95250">
                      <a:noAutofit/>
                    </a:bodyPr>
                    <a:lstStyle/>
                    <a:p>
                      <a:pPr algn="l"/>
                      <a:r>
                        <a:rPr sz="1650" b="1">
                          <a:solidFill>
                            <a:srgbClr val="171717"/>
                          </a:solidFill>
                          <a:latin typeface="Arial"/>
                          <a:ea typeface="Arial"/>
                          <a:cs typeface="Arial"/>
                        </a:rPr>
                        <a:t>Strength</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Lower effort; few components and simple operation.</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Connections across document boundaries and specialist terms.</a:t>
                      </a:r>
                    </a:p>
                  </a:txBody>
                  <a:tcPr marL="91440" marR="91440" marT="45720" marB="45720" anchor="ctr">
                    <a:solidFill>
                      <a:srgbClr val="FFFFFF"/>
                    </a:solidFill>
                  </a:tcPr>
                </a:tc>
              </a:tr>
              <a:tr h="742950">
                <a:tc>
                  <a:txBody>
                    <a:bodyPr wrap="square" lIns="152400" tIns="95250" rIns="152400" bIns="95250">
                      <a:noAutofit/>
                    </a:bodyPr>
                    <a:lstStyle/>
                    <a:p>
                      <a:pPr algn="l"/>
                      <a:r>
                        <a:rPr sz="1650" b="1">
                          <a:solidFill>
                            <a:srgbClr val="171717"/>
                          </a:solidFill>
                          <a:latin typeface="Arial"/>
                          <a:ea typeface="Arial"/>
                          <a:cs typeface="Arial"/>
                        </a:rPr>
                        <a:t>Limit</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Limited modelling; more manual relationship curation.</a:t>
                      </a:r>
                    </a:p>
                  </a:txBody>
                  <a:tcPr marL="91440" marR="91440" marT="45720" marB="45720" anchor="ctr">
                    <a:solidFill>
                      <a:srgbClr val="F4F5F3"/>
                    </a:solidFill>
                  </a:tcPr>
                </a:tc>
                <a:tc>
                  <a:txBody>
                    <a:bodyPr wrap="square" lIns="152400" tIns="95250" rIns="152400" bIns="95250">
                      <a:noAutofit/>
                    </a:bodyPr>
                    <a:lstStyle/>
                    <a:p>
                      <a:pPr algn="l"/>
                      <a:r>
                        <a:rPr sz="1650" b="0">
                          <a:solidFill>
                            <a:srgbClr val="171717"/>
                          </a:solidFill>
                          <a:latin typeface="Arial"/>
                          <a:ea typeface="Arial"/>
                          <a:cs typeface="Arial"/>
                        </a:rPr>
                        <a:t>Additional modelling, integration and licences.</a:t>
                      </a:r>
                    </a:p>
                  </a:txBody>
                  <a:tcPr marL="91440" marR="91440" marT="45720" marB="45720" anchor="ctr">
                    <a:solidFill>
                      <a:srgbClr val="F4F5F3"/>
                    </a:solidFill>
                  </a:tcPr>
                </a:tc>
              </a:tr>
              <a:tr h="790575">
                <a:tc>
                  <a:txBody>
                    <a:bodyPr wrap="square" lIns="152400" tIns="95250" rIns="152400" bIns="95250">
                      <a:noAutofit/>
                    </a:bodyPr>
                    <a:lstStyle/>
                    <a:p>
                      <a:pPr algn="l"/>
                      <a:r>
                        <a:rPr sz="1650" b="1">
                          <a:solidFill>
                            <a:srgbClr val="171717"/>
                          </a:solidFill>
                          <a:latin typeface="Arial"/>
                          <a:ea typeface="Arial"/>
                          <a:cs typeface="Arial"/>
                        </a:rPr>
                        <a:t>Proof in the pilot</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The whole knowledge flow works with traceable evidence.</a:t>
                      </a:r>
                    </a:p>
                  </a:txBody>
                  <a:tcPr marL="91440" marR="91440" marT="45720" marB="45720" anchor="ctr">
                    <a:solidFill>
                      <a:srgbClr val="FFFFFF"/>
                    </a:solidFill>
                  </a:tcPr>
                </a:tc>
                <a:tc>
                  <a:txBody>
                    <a:bodyPr wrap="square" lIns="152400" tIns="95250" rIns="152400" bIns="95250">
                      <a:noAutofit/>
                    </a:bodyPr>
                    <a:lstStyle/>
                    <a:p>
                      <a:pPr algn="l"/>
                      <a:r>
                        <a:rPr sz="1650" b="0">
                          <a:solidFill>
                            <a:srgbClr val="171717"/>
                          </a:solidFill>
                          <a:latin typeface="Arial"/>
                          <a:ea typeface="Arial"/>
                          <a:cs typeface="Arial"/>
                        </a:rPr>
                        <a:t>Measure the added value for selected research and curation tasks.</a:t>
                      </a:r>
                    </a:p>
                  </a:txBody>
                  <a:tcPr marL="91440" marR="91440" marT="45720" marB="45720" anchor="ctr">
                    <a:solidFill>
                      <a:srgbClr val="FFFFFF"/>
                    </a:solidFill>
                  </a:tcPr>
                </a:tc>
              </a:tr>
            </a:tbl>
          </a:graphicData>
        </a:graphic>
      </p:graphicFrame>
      <p:sp>
        <p:nvSpPr>
          <p:cNvPr id="10" name="Option B replaces the base graph. Its added v">
            <a:extLst xmlns:a="http://schemas.openxmlformats.org/drawingml/2006/main">
              <a:ext uri="{FF2B5EF4-FFF2-40B4-BE49-F238E27FC236}">
                <a16:creationId xmlns:a16="http://schemas.microsoft.com/office/drawing/2014/main" id="{F7D176EF-F44C-4E04-92E3-96C8FE0BBB66}"/>
              </a:ext>
            </a:extLst>
          </p:cNvPr>
          <p:cNvSpPr>
            <a:spLocks xmlns:a="http://schemas.openxmlformats.org/drawingml/2006/main" noGrp="1"/>
          </p:cNvSpPr>
          <p:nvPr/>
        </p:nvSpPr>
        <p:spPr>
          <a:xfrm xmlns:a="http://schemas.openxmlformats.org/drawingml/2006/main">
            <a:off x="533400" y="6019800"/>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0">
                <a:solidFill>
                  <a:srgbClr val="565A5C"/>
                </a:solidFill>
                <a:latin typeface="Arial"/>
                <a:ea typeface="Arial"/>
                <a:cs typeface="Arial"/>
              </a:defRPr>
            </a:pPr>
            <a:r>
              <a:rPr sz="1538" b="0">
                <a:solidFill>
                  <a:srgbClr val="565A5C"/>
                </a:solidFill>
                <a:latin typeface="Arial"/>
                <a:ea typeface="Arial"/>
                <a:cs typeface="Arial"/>
              </a:rPr>
              <a:t>Option B replaces the base graph. Its added value is measured on the same corpus with and without graph support.</a:t>
            </a:r>
          </a:p>
        </p:txBody>
      </p:sp>
    </p:spTree>
    <p:extLst>
      <p:ext uri="{BB962C8B-B14F-4D97-AF65-F5344CB8AC3E}">
        <p14:creationId xmlns:p14="http://schemas.microsoft.com/office/powerpoint/2010/main" val="183097854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 name="Delivery plan and team for twelve weeks">
            <a:extLst xmlns:a="http://schemas.openxmlformats.org/drawingml/2006/main">
              <a:ext uri="{FF2B5EF4-FFF2-40B4-BE49-F238E27FC236}">
                <a16:creationId xmlns:a16="http://schemas.microsoft.com/office/drawing/2014/main" id="{820078A3-4137-4B8A-9EB3-6AFC33B306F2}"/>
              </a:ext>
            </a:extLst>
          </p:cNvPr>
          <p:cNvSpPr>
            <a:spLocks xmlns:a="http://schemas.openxmlformats.org/drawingml/2006/main" noGrp="1"/>
          </p:cNvSpPr>
          <p:nvPr/>
        </p:nvSpPr>
        <p:spPr>
          <a:xfrm xmlns:a="http://schemas.openxmlformats.org/drawingml/2006/main">
            <a:off x="533400" y="3619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1717"/>
                </a:solidFill>
                <a:latin typeface="Arial"/>
                <a:ea typeface="Arial"/>
                <a:cs typeface="Arial"/>
              </a:defRPr>
            </a:pPr>
            <a:r>
              <a:rPr sz="3000" b="1">
                <a:solidFill>
                  <a:srgbClr val="171717"/>
                </a:solidFill>
                <a:latin typeface="Arial"/>
                <a:ea typeface="Arial"/>
                <a:cs typeface="Arial"/>
              </a:rPr>
              <a:t>Delivery plan and team for twelve weeks</a:t>
            </a:r>
          </a:p>
        </p:txBody>
      </p:sp>
      <p:sp>
        <p:nvSpPr>
          <p:cNvPr id="2" name="Two weeks of discovery lay the basis for join">
            <a:extLst xmlns:a="http://schemas.openxmlformats.org/drawingml/2006/main">
              <a:ext uri="{FF2B5EF4-FFF2-40B4-BE49-F238E27FC236}">
                <a16:creationId xmlns:a16="http://schemas.microsoft.com/office/drawing/2014/main" id="{B413E2FC-2626-4E8B-8B78-7DE19ED6A052}"/>
              </a:ext>
            </a:extLst>
          </p:cNvPr>
          <p:cNvSpPr>
            <a:spLocks xmlns:a="http://schemas.openxmlformats.org/drawingml/2006/main" noGrp="1"/>
          </p:cNvSpPr>
          <p:nvPr/>
        </p:nvSpPr>
        <p:spPr>
          <a:xfrm xmlns:a="http://schemas.openxmlformats.org/drawingml/2006/main">
            <a:off x="533400" y="9906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65A5C"/>
                </a:solidFill>
                <a:latin typeface="Arial"/>
                <a:ea typeface="Arial"/>
                <a:cs typeface="Arial"/>
              </a:defRPr>
            </a:pPr>
            <a:r>
              <a:rPr sz="1725" b="0">
                <a:solidFill>
                  <a:srgbClr val="565A5C"/>
                </a:solidFill>
                <a:latin typeface="Arial"/>
                <a:ea typeface="Arial"/>
                <a:cs typeface="Arial"/>
              </a:rPr>
              <a:t>Two weeks of discovery lay the basis for joint, measurable delivery.</a:t>
            </a:r>
          </a:p>
        </p:txBody>
      </p:sp>
      <p:sp>
        <p:nvSpPr>
          <p:cNvPr id="3" name="">
            <a:extLst xmlns:a="http://schemas.openxmlformats.org/drawingml/2006/main">
              <a:ext uri="{FF2B5EF4-FFF2-40B4-BE49-F238E27FC236}">
                <a16:creationId xmlns:a16="http://schemas.microsoft.com/office/drawing/2014/main" id="{C71B1021-9BA1-48CD-8A20-27148C9A1F5B}"/>
              </a:ext>
            </a:extLst>
          </p:cNvPr>
          <p:cNvSpPr>
            <a:spLocks xmlns:a="http://schemas.openxmlformats.org/drawingml/2006/main" noGrp="1"/>
          </p:cNvSpPr>
          <p:nvPr/>
        </p:nvSpPr>
        <p:spPr>
          <a:xfrm xmlns:a="http://schemas.openxmlformats.org/drawingml/2006/main">
            <a:off x="533400" y="6477000"/>
            <a:ext cx="111252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4" name="Daiichi Sankyo | Enterprise Knowledge Base">
            <a:extLst xmlns:a="http://schemas.openxmlformats.org/drawingml/2006/main">
              <a:ext uri="{FF2B5EF4-FFF2-40B4-BE49-F238E27FC236}">
                <a16:creationId xmlns:a16="http://schemas.microsoft.com/office/drawing/2014/main" id="{EAEE82BE-BC6E-45EE-9486-921594D2507F}"/>
              </a:ext>
            </a:extLst>
          </p:cNvPr>
          <p:cNvSpPr>
            <a:spLocks xmlns:a="http://schemas.openxmlformats.org/drawingml/2006/main" noGrp="1"/>
          </p:cNvSpPr>
          <p:nvPr/>
        </p:nvSpPr>
        <p:spPr>
          <a:xfrm xmlns:a="http://schemas.openxmlformats.org/drawingml/2006/main">
            <a:off x="533400" y="6572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65A5C"/>
                </a:solidFill>
                <a:latin typeface="Arial"/>
                <a:ea typeface="Arial"/>
                <a:cs typeface="Arial"/>
              </a:defRPr>
            </a:pPr>
            <a:r>
              <a:rPr sz="1050" b="0">
                <a:solidFill>
                  <a:srgbClr val="565A5C"/>
                </a:solidFill>
                <a:latin typeface="Arial"/>
                <a:ea typeface="Arial"/>
                <a:cs typeface="Arial"/>
              </a:rPr>
              <a:t>Daiichi Sankyo | Enterprise Knowledge Base</a:t>
            </a:r>
          </a:p>
        </p:txBody>
      </p:sp>
      <p:sp>
        <p:nvSpPr>
          <p:cNvPr id="5" name="04">
            <a:extLst xmlns:a="http://schemas.openxmlformats.org/drawingml/2006/main">
              <a:ext uri="{FF2B5EF4-FFF2-40B4-BE49-F238E27FC236}">
                <a16:creationId xmlns:a16="http://schemas.microsoft.com/office/drawing/2014/main" id="{FAF2422F-DBC4-4B80-8B61-165E0F19DA61}"/>
              </a:ext>
            </a:extLst>
          </p:cNvPr>
          <p:cNvSpPr>
            <a:spLocks xmlns:a="http://schemas.openxmlformats.org/drawingml/2006/main" noGrp="1"/>
          </p:cNvSpPr>
          <p:nvPr/>
        </p:nvSpPr>
        <p:spPr>
          <a:xfrm xmlns:a="http://schemas.openxmlformats.org/drawingml/2006/main">
            <a:off x="11277600" y="65341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5A5C"/>
                </a:solidFill>
                <a:latin typeface="Arial"/>
                <a:ea typeface="Arial"/>
                <a:cs typeface="Arial"/>
              </a:defRPr>
            </a:pPr>
            <a:r>
              <a:rPr sz="1275" b="0">
                <a:solidFill>
                  <a:srgbClr val="565A5C"/>
                </a:solidFill>
                <a:latin typeface="Arial"/>
                <a:ea typeface="Arial"/>
                <a:cs typeface="Arial"/>
              </a:rPr>
              <a:t>04</a:t>
            </a:r>
          </a:p>
        </p:txBody>
      </p:sp>
      <p:sp>
        <p:nvSpPr>
          <p:cNvPr id="6" name="box">
            <a:extLst xmlns:a="http://schemas.openxmlformats.org/drawingml/2006/main">
              <a:ext uri="{FF2B5EF4-FFF2-40B4-BE49-F238E27FC236}">
                <a16:creationId xmlns:a16="http://schemas.microsoft.com/office/drawing/2014/main" id="{194EDF09-33CF-4CC8-B6ED-38DE6CF726E6}"/>
              </a:ext>
            </a:extLst>
          </p:cNvPr>
          <p:cNvSpPr>
            <a:spLocks xmlns:a="http://schemas.openxmlformats.org/drawingml/2006/main" noGrp="1"/>
          </p:cNvSpPr>
          <p:nvPr/>
        </p:nvSpPr>
        <p:spPr>
          <a:xfrm xmlns:a="http://schemas.openxmlformats.org/drawingml/2006/main">
            <a:off x="533400" y="1562100"/>
            <a:ext cx="2609850" cy="1743075"/>
          </a:xfrm>
          <a:prstGeom xmlns:a="http://schemas.openxmlformats.org/drawingml/2006/main" prst="rect">
            <a:avLst/>
          </a:prstGeom>
          <a:solidFill xmlns:a="http://schemas.openxmlformats.org/drawingml/2006/main">
            <a:srgbClr val="F0F6E7"/>
          </a:solidFill>
          <a:ln xmlns:a="http://schemas.openxmlformats.org/drawingml/2006/main" w="9525">
            <a:solidFill>
              <a:srgbClr val="86BC25"/>
            </a:solidFill>
          </a:ln>
        </p:spPr>
      </p:sp>
      <p:sp>
        <p:nvSpPr>
          <p:cNvPr id="7" name="Weeks 1–2">
            <a:extLst xmlns:a="http://schemas.openxmlformats.org/drawingml/2006/main">
              <a:ext uri="{FF2B5EF4-FFF2-40B4-BE49-F238E27FC236}">
                <a16:creationId xmlns:a16="http://schemas.microsoft.com/office/drawing/2014/main" id="{0A9C6EF8-0E97-4C44-8F82-D777D1018696}"/>
              </a:ext>
            </a:extLst>
          </p:cNvPr>
          <p:cNvSpPr>
            <a:spLocks xmlns:a="http://schemas.openxmlformats.org/drawingml/2006/main" noGrp="1"/>
          </p:cNvSpPr>
          <p:nvPr/>
        </p:nvSpPr>
        <p:spPr>
          <a:xfrm xmlns:a="http://schemas.openxmlformats.org/drawingml/2006/main">
            <a:off x="685800" y="1695450"/>
            <a:ext cx="2305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436C10"/>
                </a:solidFill>
                <a:latin typeface="Arial"/>
                <a:ea typeface="Arial"/>
                <a:cs typeface="Arial"/>
              </a:defRPr>
            </a:pPr>
            <a:r>
              <a:rPr sz="1500" b="1">
                <a:solidFill>
                  <a:srgbClr val="436C10"/>
                </a:solidFill>
                <a:latin typeface="Arial"/>
                <a:ea typeface="Arial"/>
                <a:cs typeface="Arial"/>
              </a:rPr>
              <a:t>Weeks 1–2</a:t>
            </a:r>
          </a:p>
        </p:txBody>
      </p:sp>
      <p:sp>
        <p:nvSpPr>
          <p:cNvPr id="8" name="Discovery">
            <a:extLst xmlns:a="http://schemas.openxmlformats.org/drawingml/2006/main">
              <a:ext uri="{FF2B5EF4-FFF2-40B4-BE49-F238E27FC236}">
                <a16:creationId xmlns:a16="http://schemas.microsoft.com/office/drawing/2014/main" id="{C03D430D-086A-44FF-BBC1-D68B8587A378}"/>
              </a:ext>
            </a:extLst>
          </p:cNvPr>
          <p:cNvSpPr>
            <a:spLocks xmlns:a="http://schemas.openxmlformats.org/drawingml/2006/main" noGrp="1"/>
          </p:cNvSpPr>
          <p:nvPr/>
        </p:nvSpPr>
        <p:spPr>
          <a:xfrm xmlns:a="http://schemas.openxmlformats.org/drawingml/2006/main">
            <a:off x="685800" y="204787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Discovery</a:t>
            </a:r>
          </a:p>
        </p:txBody>
      </p:sp>
      <p:sp>
        <p:nvSpPr>
          <p:cNvPr id="9" name="Use cases · pilot corpus&#10;Architecture · model">
            <a:extLst xmlns:a="http://schemas.openxmlformats.org/drawingml/2006/main">
              <a:ext uri="{FF2B5EF4-FFF2-40B4-BE49-F238E27FC236}">
                <a16:creationId xmlns:a16="http://schemas.microsoft.com/office/drawing/2014/main" id="{4BBFD18F-F097-45AA-AF93-C28E1E6F7A6B}"/>
              </a:ext>
            </a:extLst>
          </p:cNvPr>
          <p:cNvSpPr>
            <a:spLocks xmlns:a="http://schemas.openxmlformats.org/drawingml/2006/main" noGrp="1"/>
          </p:cNvSpPr>
          <p:nvPr/>
        </p:nvSpPr>
        <p:spPr>
          <a:xfrm xmlns:a="http://schemas.openxmlformats.org/drawingml/2006/main">
            <a:off x="685800" y="2505075"/>
            <a:ext cx="2324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Use cases · pilot corpus</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Architecture · model test</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Interfaces · acceptance</a:t>
            </a:r>
          </a:p>
        </p:txBody>
      </p:sp>
      <p:sp>
        <p:nvSpPr>
          <p:cNvPr id="10" name="box">
            <a:extLst xmlns:a="http://schemas.openxmlformats.org/drawingml/2006/main">
              <a:ext uri="{FF2B5EF4-FFF2-40B4-BE49-F238E27FC236}">
                <a16:creationId xmlns:a16="http://schemas.microsoft.com/office/drawing/2014/main" id="{492C7314-CA82-4A12-BBC6-769D542605FA}"/>
              </a:ext>
            </a:extLst>
          </p:cNvPr>
          <p:cNvSpPr>
            <a:spLocks xmlns:a="http://schemas.openxmlformats.org/drawingml/2006/main" noGrp="1"/>
          </p:cNvSpPr>
          <p:nvPr/>
        </p:nvSpPr>
        <p:spPr>
          <a:xfrm xmlns:a="http://schemas.openxmlformats.org/drawingml/2006/main">
            <a:off x="3371850" y="1562100"/>
            <a:ext cx="2609850" cy="1743075"/>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11" name="Weeks 3–4">
            <a:extLst xmlns:a="http://schemas.openxmlformats.org/drawingml/2006/main">
              <a:ext uri="{FF2B5EF4-FFF2-40B4-BE49-F238E27FC236}">
                <a16:creationId xmlns:a16="http://schemas.microsoft.com/office/drawing/2014/main" id="{17B830A5-0278-4320-9DB5-15A044831D48}"/>
              </a:ext>
            </a:extLst>
          </p:cNvPr>
          <p:cNvSpPr>
            <a:spLocks xmlns:a="http://schemas.openxmlformats.org/drawingml/2006/main" noGrp="1"/>
          </p:cNvSpPr>
          <p:nvPr/>
        </p:nvSpPr>
        <p:spPr>
          <a:xfrm xmlns:a="http://schemas.openxmlformats.org/drawingml/2006/main">
            <a:off x="3524250" y="1695450"/>
            <a:ext cx="2305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436C10"/>
                </a:solidFill>
                <a:latin typeface="Arial"/>
                <a:ea typeface="Arial"/>
                <a:cs typeface="Arial"/>
              </a:defRPr>
            </a:pPr>
            <a:r>
              <a:rPr sz="1500" b="1">
                <a:solidFill>
                  <a:srgbClr val="436C10"/>
                </a:solidFill>
                <a:latin typeface="Arial"/>
                <a:ea typeface="Arial"/>
                <a:cs typeface="Arial"/>
              </a:rPr>
              <a:t>Weeks 3–4</a:t>
            </a:r>
          </a:p>
        </p:txBody>
      </p:sp>
      <p:sp>
        <p:nvSpPr>
          <p:cNvPr id="12" name="First end-to-end run">
            <a:extLst xmlns:a="http://schemas.openxmlformats.org/drawingml/2006/main">
              <a:ext uri="{FF2B5EF4-FFF2-40B4-BE49-F238E27FC236}">
                <a16:creationId xmlns:a16="http://schemas.microsoft.com/office/drawing/2014/main" id="{37CDB4DF-C3C3-4DB3-87A6-9FBA57B702E1}"/>
              </a:ext>
            </a:extLst>
          </p:cNvPr>
          <p:cNvSpPr>
            <a:spLocks xmlns:a="http://schemas.openxmlformats.org/drawingml/2006/main" noGrp="1"/>
          </p:cNvSpPr>
          <p:nvPr/>
        </p:nvSpPr>
        <p:spPr>
          <a:xfrm xmlns:a="http://schemas.openxmlformats.org/drawingml/2006/main">
            <a:off x="3524250" y="204787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First end-to-end run</a:t>
            </a:r>
          </a:p>
        </p:txBody>
      </p:sp>
      <p:sp>
        <p:nvSpPr>
          <p:cNvPr id="13" name="Document → wiki draft&#10;Domain approval&#10;Fi">
            <a:extLst xmlns:a="http://schemas.openxmlformats.org/drawingml/2006/main">
              <a:ext uri="{FF2B5EF4-FFF2-40B4-BE49-F238E27FC236}">
                <a16:creationId xmlns:a16="http://schemas.microsoft.com/office/drawing/2014/main" id="{1D08DDD2-C405-4C44-91B8-C7899B397623}"/>
              </a:ext>
            </a:extLst>
          </p:cNvPr>
          <p:cNvSpPr>
            <a:spLocks xmlns:a="http://schemas.openxmlformats.org/drawingml/2006/main" noGrp="1"/>
          </p:cNvSpPr>
          <p:nvPr/>
        </p:nvSpPr>
        <p:spPr>
          <a:xfrm xmlns:a="http://schemas.openxmlformats.org/drawingml/2006/main">
            <a:off x="3524250" y="2505075"/>
            <a:ext cx="2324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Document → wiki draft</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Domain approval</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First graph connection</a:t>
            </a:r>
          </a:p>
        </p:txBody>
      </p:sp>
      <p:sp>
        <p:nvSpPr>
          <p:cNvPr id="14" name="box">
            <a:extLst xmlns:a="http://schemas.openxmlformats.org/drawingml/2006/main">
              <a:ext uri="{FF2B5EF4-FFF2-40B4-BE49-F238E27FC236}">
                <a16:creationId xmlns:a16="http://schemas.microsoft.com/office/drawing/2014/main" id="{FE3FBD82-CCE6-40B8-99B7-0A784BE851FD}"/>
              </a:ext>
            </a:extLst>
          </p:cNvPr>
          <p:cNvSpPr>
            <a:spLocks xmlns:a="http://schemas.openxmlformats.org/drawingml/2006/main" noGrp="1"/>
          </p:cNvSpPr>
          <p:nvPr/>
        </p:nvSpPr>
        <p:spPr>
          <a:xfrm xmlns:a="http://schemas.openxmlformats.org/drawingml/2006/main">
            <a:off x="6210300" y="1562100"/>
            <a:ext cx="2609850" cy="1743075"/>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15" name="Weeks 5–8">
            <a:extLst xmlns:a="http://schemas.openxmlformats.org/drawingml/2006/main">
              <a:ext uri="{FF2B5EF4-FFF2-40B4-BE49-F238E27FC236}">
                <a16:creationId xmlns:a16="http://schemas.microsoft.com/office/drawing/2014/main" id="{686ADAFF-C86F-4A52-94AE-E4B5FF8FF297}"/>
              </a:ext>
            </a:extLst>
          </p:cNvPr>
          <p:cNvSpPr>
            <a:spLocks xmlns:a="http://schemas.openxmlformats.org/drawingml/2006/main" noGrp="1"/>
          </p:cNvSpPr>
          <p:nvPr/>
        </p:nvSpPr>
        <p:spPr>
          <a:xfrm xmlns:a="http://schemas.openxmlformats.org/drawingml/2006/main">
            <a:off x="6362700" y="1695450"/>
            <a:ext cx="2305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436C10"/>
                </a:solidFill>
                <a:latin typeface="Arial"/>
                <a:ea typeface="Arial"/>
                <a:cs typeface="Arial"/>
              </a:defRPr>
            </a:pPr>
            <a:r>
              <a:rPr sz="1500" b="1">
                <a:solidFill>
                  <a:srgbClr val="436C10"/>
                </a:solidFill>
                <a:latin typeface="Arial"/>
                <a:ea typeface="Arial"/>
                <a:cs typeface="Arial"/>
              </a:rPr>
              <a:t>Weeks 5–8</a:t>
            </a:r>
          </a:p>
        </p:txBody>
      </p:sp>
      <p:sp>
        <p:nvSpPr>
          <p:cNvPr id="16" name="Build">
            <a:extLst xmlns:a="http://schemas.openxmlformats.org/drawingml/2006/main">
              <a:ext uri="{FF2B5EF4-FFF2-40B4-BE49-F238E27FC236}">
                <a16:creationId xmlns:a16="http://schemas.microsoft.com/office/drawing/2014/main" id="{DB35D70A-BE31-430E-B07B-2521C7C282E1}"/>
              </a:ext>
            </a:extLst>
          </p:cNvPr>
          <p:cNvSpPr>
            <a:spLocks xmlns:a="http://schemas.openxmlformats.org/drawingml/2006/main" noGrp="1"/>
          </p:cNvSpPr>
          <p:nvPr/>
        </p:nvSpPr>
        <p:spPr>
          <a:xfrm xmlns:a="http://schemas.openxmlformats.org/drawingml/2006/main">
            <a:off x="6362700" y="204787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Build</a:t>
            </a:r>
          </a:p>
        </p:txBody>
      </p:sp>
      <p:sp>
        <p:nvSpPr>
          <p:cNvPr id="17" name="Wiki, search and MCP&#10;Source changes&#10;Semanti">
            <a:extLst xmlns:a="http://schemas.openxmlformats.org/drawingml/2006/main">
              <a:ext uri="{FF2B5EF4-FFF2-40B4-BE49-F238E27FC236}">
                <a16:creationId xmlns:a16="http://schemas.microsoft.com/office/drawing/2014/main" id="{4E9A55DE-3E1C-4827-A8E5-DFE95AE5F65D}"/>
              </a:ext>
            </a:extLst>
          </p:cNvPr>
          <p:cNvSpPr>
            <a:spLocks xmlns:a="http://schemas.openxmlformats.org/drawingml/2006/main" noGrp="1"/>
          </p:cNvSpPr>
          <p:nvPr/>
        </p:nvSpPr>
        <p:spPr>
          <a:xfrm xmlns:a="http://schemas.openxmlformats.org/drawingml/2006/main">
            <a:off x="6362700" y="2505075"/>
            <a:ext cx="2324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Wiki, search and MCP</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Source changes</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Semantic context</a:t>
            </a:r>
          </a:p>
        </p:txBody>
      </p:sp>
      <p:sp>
        <p:nvSpPr>
          <p:cNvPr id="18" name="box">
            <a:extLst xmlns:a="http://schemas.openxmlformats.org/drawingml/2006/main">
              <a:ext uri="{FF2B5EF4-FFF2-40B4-BE49-F238E27FC236}">
                <a16:creationId xmlns:a16="http://schemas.microsoft.com/office/drawing/2014/main" id="{95CE6FEF-06BA-46DD-BE13-F1A2EC0C08F8}"/>
              </a:ext>
            </a:extLst>
          </p:cNvPr>
          <p:cNvSpPr>
            <a:spLocks xmlns:a="http://schemas.openxmlformats.org/drawingml/2006/main" noGrp="1"/>
          </p:cNvSpPr>
          <p:nvPr/>
        </p:nvSpPr>
        <p:spPr>
          <a:xfrm xmlns:a="http://schemas.openxmlformats.org/drawingml/2006/main">
            <a:off x="9048750" y="1562100"/>
            <a:ext cx="2609850" cy="1743075"/>
          </a:xfrm>
          <a:prstGeom xmlns:a="http://schemas.openxmlformats.org/drawingml/2006/main" prst="rect">
            <a:avLst/>
          </a:prstGeom>
          <a:solidFill xmlns:a="http://schemas.openxmlformats.org/drawingml/2006/main">
            <a:srgbClr val="F4F5F3"/>
          </a:solidFill>
          <a:ln xmlns:a="http://schemas.openxmlformats.org/drawingml/2006/main" w="9525">
            <a:solidFill>
              <a:srgbClr val="D7DBD4"/>
            </a:solidFill>
          </a:ln>
        </p:spPr>
      </p:sp>
      <p:sp>
        <p:nvSpPr>
          <p:cNvPr id="19" name="Weeks 9–12">
            <a:extLst xmlns:a="http://schemas.openxmlformats.org/drawingml/2006/main">
              <a:ext uri="{FF2B5EF4-FFF2-40B4-BE49-F238E27FC236}">
                <a16:creationId xmlns:a16="http://schemas.microsoft.com/office/drawing/2014/main" id="{AF17317F-767E-45E5-87DB-88C27EE5DD26}"/>
              </a:ext>
            </a:extLst>
          </p:cNvPr>
          <p:cNvSpPr>
            <a:spLocks xmlns:a="http://schemas.openxmlformats.org/drawingml/2006/main" noGrp="1"/>
          </p:cNvSpPr>
          <p:nvPr/>
        </p:nvSpPr>
        <p:spPr>
          <a:xfrm xmlns:a="http://schemas.openxmlformats.org/drawingml/2006/main">
            <a:off x="9201150" y="1695450"/>
            <a:ext cx="2305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1">
                <a:solidFill>
                  <a:srgbClr val="436C10"/>
                </a:solidFill>
                <a:latin typeface="Arial"/>
                <a:ea typeface="Arial"/>
                <a:cs typeface="Arial"/>
              </a:defRPr>
            </a:pPr>
            <a:r>
              <a:rPr sz="1500" b="1">
                <a:solidFill>
                  <a:srgbClr val="436C10"/>
                </a:solidFill>
                <a:latin typeface="Arial"/>
                <a:ea typeface="Arial"/>
                <a:cs typeface="Arial"/>
              </a:rPr>
              <a:t>Weeks 9–12</a:t>
            </a:r>
          </a:p>
        </p:txBody>
      </p:sp>
      <p:sp>
        <p:nvSpPr>
          <p:cNvPr id="20" name="Acceptance">
            <a:extLst xmlns:a="http://schemas.openxmlformats.org/drawingml/2006/main">
              <a:ext uri="{FF2B5EF4-FFF2-40B4-BE49-F238E27FC236}">
                <a16:creationId xmlns:a16="http://schemas.microsoft.com/office/drawing/2014/main" id="{75F33FD1-4E82-4A86-8F9A-E9350ED37443}"/>
              </a:ext>
            </a:extLst>
          </p:cNvPr>
          <p:cNvSpPr>
            <a:spLocks xmlns:a="http://schemas.openxmlformats.org/drawingml/2006/main" noGrp="1"/>
          </p:cNvSpPr>
          <p:nvPr/>
        </p:nvSpPr>
        <p:spPr>
          <a:xfrm xmlns:a="http://schemas.openxmlformats.org/drawingml/2006/main">
            <a:off x="9201150" y="2047875"/>
            <a:ext cx="23050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1717"/>
                </a:solidFill>
                <a:latin typeface="Arial"/>
                <a:ea typeface="Arial"/>
                <a:cs typeface="Arial"/>
              </a:defRPr>
            </a:pPr>
            <a:r>
              <a:rPr sz="1875" b="1">
                <a:solidFill>
                  <a:srgbClr val="171717"/>
                </a:solidFill>
                <a:latin typeface="Arial"/>
                <a:ea typeface="Arial"/>
                <a:cs typeface="Arial"/>
              </a:rPr>
              <a:t>Acceptance</a:t>
            </a:r>
          </a:p>
        </p:txBody>
      </p:sp>
      <p:sp>
        <p:nvSpPr>
          <p:cNvPr id="21" name="Quality and access&#10;Export &amp; restore&#10;T">
            <a:extLst xmlns:a="http://schemas.openxmlformats.org/drawingml/2006/main">
              <a:ext uri="{FF2B5EF4-FFF2-40B4-BE49-F238E27FC236}">
                <a16:creationId xmlns:a16="http://schemas.microsoft.com/office/drawing/2014/main" id="{4E0A95F2-2810-4B1C-97B7-4B0BA78E262E}"/>
              </a:ext>
            </a:extLst>
          </p:cNvPr>
          <p:cNvSpPr>
            <a:spLocks xmlns:a="http://schemas.openxmlformats.org/drawingml/2006/main" noGrp="1"/>
          </p:cNvSpPr>
          <p:nvPr/>
        </p:nvSpPr>
        <p:spPr>
          <a:xfrm xmlns:a="http://schemas.openxmlformats.org/drawingml/2006/main">
            <a:off x="9201150" y="2505075"/>
            <a:ext cx="23241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Quality and access</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Export &amp; restore</a:t>
            </a:r>
          </a:p>
          <a:p xmlns:a="http://schemas.openxmlformats.org/drawingml/2006/main">
            <a:pPr algn="l">
              <a:defRPr sz="1538" b="0">
                <a:solidFill>
                  <a:srgbClr val="171717"/>
                </a:solidFill>
                <a:latin typeface="Arial"/>
                <a:ea typeface="Arial"/>
                <a:cs typeface="Arial"/>
              </a:defRPr>
            </a:pPr>
            <a:r>
              <a:rPr sz="1538" b="0">
                <a:solidFill>
                  <a:srgbClr val="171717"/>
                </a:solidFill>
                <a:latin typeface="Arial"/>
                <a:ea typeface="Arial"/>
                <a:cs typeface="Arial"/>
              </a:rPr>
              <a:t>Handover &amp; scale-out plan</a:t>
            </a:r>
          </a:p>
        </p:txBody>
      </p:sp>
      <p:cxnSp>
        <p:nvCxnSpPr>
          <p:cNvPr id="57" name=""/>
          <p:cNvCxnSpPr>
            <a:stCxn xmlns:a="http://schemas.openxmlformats.org/drawingml/2006/main" id="6" idx="3"/>
            <a:endCxn xmlns:a="http://schemas.openxmlformats.org/drawingml/2006/main" id="10" idx="1"/>
          </p:cNvCxnSpPr>
          <p:nvPr/>
        </p:nvCxnSpPr>
        <p:spPr>
          <a:xfrm xmlns:a="http://schemas.openxmlformats.org/drawingml/2006/main">
            <a:off x="3143250" y="2433638"/>
            <a:ext cx="2286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cxnSp>
        <p:nvCxnSpPr>
          <p:cNvPr id="58" name=""/>
          <p:cNvCxnSpPr>
            <a:stCxn xmlns:a="http://schemas.openxmlformats.org/drawingml/2006/main" id="10" idx="3"/>
            <a:endCxn xmlns:a="http://schemas.openxmlformats.org/drawingml/2006/main" id="14" idx="1"/>
          </p:cNvCxnSpPr>
          <p:nvPr/>
        </p:nvCxnSpPr>
        <p:spPr>
          <a:xfrm xmlns:a="http://schemas.openxmlformats.org/drawingml/2006/main">
            <a:off x="5981700" y="2433638"/>
            <a:ext cx="2286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cxnSp>
        <p:nvCxnSpPr>
          <p:cNvPr id="59" name=""/>
          <p:cNvCxnSpPr>
            <a:stCxn xmlns:a="http://schemas.openxmlformats.org/drawingml/2006/main" id="14" idx="3"/>
            <a:endCxn xmlns:a="http://schemas.openxmlformats.org/drawingml/2006/main" id="18" idx="1"/>
          </p:cNvCxnSpPr>
          <p:nvPr/>
        </p:nvCxnSpPr>
        <p:spPr>
          <a:xfrm xmlns:a="http://schemas.openxmlformats.org/drawingml/2006/main">
            <a:off x="8820150" y="2433638"/>
            <a:ext cx="228600" cy="0"/>
          </a:xfrm>
          <a:prstGeom xmlns:a="http://schemas.openxmlformats.org/drawingml/2006/main" prst="straightConnector1">
            <a:avLst/>
          </a:prstGeom>
          <a:ln xmlns:a="http://schemas.openxmlformats.org/drawingml/2006/main" w="19050">
            <a:solidFill>
              <a:srgbClr val="565A5C"/>
            </a:solidFill>
            <a:prstDash val="solid"/>
            <a:tailEnd type="triangle" w="sm" len="sm"/>
          </a:ln>
        </p:spPr>
      </p:cxnSp>
      <p:sp>
        <p:nvSpPr>
          <p:cNvPr id="25" name="Option B: parallel delivery with Graphwise; f">
            <a:extLst xmlns:a="http://schemas.openxmlformats.org/drawingml/2006/main">
              <a:ext uri="{FF2B5EF4-FFF2-40B4-BE49-F238E27FC236}">
                <a16:creationId xmlns:a16="http://schemas.microsoft.com/office/drawing/2014/main" id="{0DD0762B-7CC1-42D6-AB6A-28C05C0A4B21}"/>
              </a:ext>
            </a:extLst>
          </p:cNvPr>
          <p:cNvSpPr>
            <a:spLocks xmlns:a="http://schemas.openxmlformats.org/drawingml/2006/main" noGrp="1"/>
          </p:cNvSpPr>
          <p:nvPr/>
        </p:nvSpPr>
        <p:spPr>
          <a:xfrm xmlns:a="http://schemas.openxmlformats.org/drawingml/2006/main">
            <a:off x="533400" y="3476625"/>
            <a:ext cx="111252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436C10"/>
                </a:solidFill>
                <a:latin typeface="Arial"/>
                <a:ea typeface="Arial"/>
                <a:cs typeface="Arial"/>
              </a:defRPr>
            </a:pPr>
            <a:r>
              <a:rPr sz="1575" b="1">
                <a:solidFill>
                  <a:srgbClr val="436C10"/>
                </a:solidFill>
                <a:latin typeface="Arial"/>
                <a:ea typeface="Arial"/>
                <a:cs typeface="Arial"/>
              </a:rPr>
              <a:t>Option B: parallel delivery with Graphwise; first joint demonstration by the end of week 4.</a:t>
            </a:r>
          </a:p>
        </p:txBody>
      </p:sp>
      <p:sp>
        <p:nvSpPr>
          <p:cNvPr id="26" name="">
            <a:extLst xmlns:a="http://schemas.openxmlformats.org/drawingml/2006/main">
              <a:ext uri="{FF2B5EF4-FFF2-40B4-BE49-F238E27FC236}">
                <a16:creationId xmlns:a16="http://schemas.microsoft.com/office/drawing/2014/main" id="{12666ADF-5940-4F6C-BC86-94263714A08C}"/>
              </a:ext>
            </a:extLst>
          </p:cNvPr>
          <p:cNvSpPr>
            <a:spLocks xmlns:a="http://schemas.openxmlformats.org/drawingml/2006/main" noGrp="1"/>
          </p:cNvSpPr>
          <p:nvPr/>
        </p:nvSpPr>
        <p:spPr>
          <a:xfrm xmlns:a="http://schemas.openxmlformats.org/drawingml/2006/main">
            <a:off x="533400" y="3943350"/>
            <a:ext cx="111252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27" name="Three core Deloitte roles">
            <a:extLst xmlns:a="http://schemas.openxmlformats.org/drawingml/2006/main">
              <a:ext uri="{FF2B5EF4-FFF2-40B4-BE49-F238E27FC236}">
                <a16:creationId xmlns:a16="http://schemas.microsoft.com/office/drawing/2014/main" id="{01C23E81-083A-47A2-B788-42599C1FB6EB}"/>
              </a:ext>
            </a:extLst>
          </p:cNvPr>
          <p:cNvSpPr>
            <a:spLocks xmlns:a="http://schemas.openxmlformats.org/drawingml/2006/main" noGrp="1"/>
          </p:cNvSpPr>
          <p:nvPr/>
        </p:nvSpPr>
        <p:spPr>
          <a:xfrm xmlns:a="http://schemas.openxmlformats.org/drawingml/2006/main">
            <a:off x="533400" y="4143375"/>
            <a:ext cx="6667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1717"/>
                </a:solidFill>
                <a:latin typeface="Arial"/>
                <a:ea typeface="Arial"/>
                <a:cs typeface="Arial"/>
              </a:defRPr>
            </a:pPr>
            <a:r>
              <a:rPr sz="2025" b="1">
                <a:solidFill>
                  <a:srgbClr val="171717"/>
                </a:solidFill>
                <a:latin typeface="Arial"/>
                <a:ea typeface="Arial"/>
                <a:cs typeface="Arial"/>
              </a:rPr>
              <a:t>Three core Deloitte roles</a:t>
            </a:r>
          </a:p>
        </p:txBody>
      </p:sp>
      <p:sp>
        <p:nvSpPr>
          <p:cNvPr id="28" name="Technical lead / architect">
            <a:extLst xmlns:a="http://schemas.openxmlformats.org/drawingml/2006/main">
              <a:ext uri="{FF2B5EF4-FFF2-40B4-BE49-F238E27FC236}">
                <a16:creationId xmlns:a16="http://schemas.microsoft.com/office/drawing/2014/main" id="{E71B334F-0665-44EF-85C7-B47915008F36}"/>
              </a:ext>
            </a:extLst>
          </p:cNvPr>
          <p:cNvSpPr>
            <a:spLocks xmlns:a="http://schemas.openxmlformats.org/drawingml/2006/main" noGrp="1"/>
          </p:cNvSpPr>
          <p:nvPr/>
        </p:nvSpPr>
        <p:spPr>
          <a:xfrm xmlns:a="http://schemas.openxmlformats.org/drawingml/2006/main">
            <a:off x="533400" y="4638675"/>
            <a:ext cx="3543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1717"/>
                </a:solidFill>
                <a:latin typeface="Arial"/>
                <a:ea typeface="Arial"/>
                <a:cs typeface="Arial"/>
              </a:defRPr>
            </a:pPr>
            <a:r>
              <a:rPr sz="1650" b="1">
                <a:solidFill>
                  <a:srgbClr val="171717"/>
                </a:solidFill>
                <a:latin typeface="Arial"/>
                <a:ea typeface="Arial"/>
                <a:cs typeface="Arial"/>
              </a:rPr>
              <a:t>Technical lead / architect</a:t>
            </a:r>
          </a:p>
        </p:txBody>
      </p:sp>
      <p:sp>
        <p:nvSpPr>
          <p:cNvPr id="29" name="Architecture, interfaces, leadership&#10;and tech">
            <a:extLst xmlns:a="http://schemas.openxmlformats.org/drawingml/2006/main">
              <a:ext uri="{FF2B5EF4-FFF2-40B4-BE49-F238E27FC236}">
                <a16:creationId xmlns:a16="http://schemas.microsoft.com/office/drawing/2014/main" id="{0E2C3A20-4CCF-4A99-898D-8A5AA732DE53}"/>
              </a:ext>
            </a:extLst>
          </p:cNvPr>
          <p:cNvSpPr>
            <a:spLocks xmlns:a="http://schemas.openxmlformats.org/drawingml/2006/main" noGrp="1"/>
          </p:cNvSpPr>
          <p:nvPr/>
        </p:nvSpPr>
        <p:spPr>
          <a:xfrm xmlns:a="http://schemas.openxmlformats.org/drawingml/2006/main">
            <a:off x="533400" y="5019675"/>
            <a:ext cx="354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Architecture, interfaces, leadership</a:t>
            </a:r>
          </a:p>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and technical quality</a:t>
            </a:r>
          </a:p>
        </p:txBody>
      </p:sp>
      <p:sp>
        <p:nvSpPr>
          <p:cNvPr id="30" name="Backend / AI engineer">
            <a:extLst xmlns:a="http://schemas.openxmlformats.org/drawingml/2006/main">
              <a:ext uri="{FF2B5EF4-FFF2-40B4-BE49-F238E27FC236}">
                <a16:creationId xmlns:a16="http://schemas.microsoft.com/office/drawing/2014/main" id="{11B9F71B-E189-457B-9F58-7987BF2F94F7}"/>
              </a:ext>
            </a:extLst>
          </p:cNvPr>
          <p:cNvSpPr>
            <a:spLocks xmlns:a="http://schemas.openxmlformats.org/drawingml/2006/main" noGrp="1"/>
          </p:cNvSpPr>
          <p:nvPr/>
        </p:nvSpPr>
        <p:spPr>
          <a:xfrm xmlns:a="http://schemas.openxmlformats.org/drawingml/2006/main">
            <a:off x="4314825" y="4638675"/>
            <a:ext cx="3543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1717"/>
                </a:solidFill>
                <a:latin typeface="Arial"/>
                <a:ea typeface="Arial"/>
                <a:cs typeface="Arial"/>
              </a:defRPr>
            </a:pPr>
            <a:r>
              <a:rPr sz="1650" b="1">
                <a:solidFill>
                  <a:srgbClr val="171717"/>
                </a:solidFill>
                <a:latin typeface="Arial"/>
                <a:ea typeface="Arial"/>
                <a:cs typeface="Arial"/>
              </a:rPr>
              <a:t>Backend / AI engineer</a:t>
            </a:r>
          </a:p>
        </p:txBody>
      </p:sp>
      <p:sp>
        <p:nvSpPr>
          <p:cNvPr id="31" name="Ingestion, LLM wiki service,&#10;retrieval, APIs">
            <a:extLst xmlns:a="http://schemas.openxmlformats.org/drawingml/2006/main">
              <a:ext uri="{FF2B5EF4-FFF2-40B4-BE49-F238E27FC236}">
                <a16:creationId xmlns:a16="http://schemas.microsoft.com/office/drawing/2014/main" id="{7115CD8B-FE7B-47B0-82BE-D4DC5FFAFD63}"/>
              </a:ext>
            </a:extLst>
          </p:cNvPr>
          <p:cNvSpPr>
            <a:spLocks xmlns:a="http://schemas.openxmlformats.org/drawingml/2006/main" noGrp="1"/>
          </p:cNvSpPr>
          <p:nvPr/>
        </p:nvSpPr>
        <p:spPr>
          <a:xfrm xmlns:a="http://schemas.openxmlformats.org/drawingml/2006/main">
            <a:off x="4314825" y="5019675"/>
            <a:ext cx="354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Ingestion, LLM wiki service,</a:t>
            </a:r>
          </a:p>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retrieval, APIs and MCP</a:t>
            </a:r>
          </a:p>
        </p:txBody>
      </p:sp>
      <p:sp>
        <p:nvSpPr>
          <p:cNvPr id="32" name="Full-stack / knowledge engineer">
            <a:extLst xmlns:a="http://schemas.openxmlformats.org/drawingml/2006/main">
              <a:ext uri="{FF2B5EF4-FFF2-40B4-BE49-F238E27FC236}">
                <a16:creationId xmlns:a16="http://schemas.microsoft.com/office/drawing/2014/main" id="{9B823EB5-91F6-435A-8455-98EBC269EE9D}"/>
              </a:ext>
            </a:extLst>
          </p:cNvPr>
          <p:cNvSpPr>
            <a:spLocks xmlns:a="http://schemas.openxmlformats.org/drawingml/2006/main" noGrp="1"/>
          </p:cNvSpPr>
          <p:nvPr/>
        </p:nvSpPr>
        <p:spPr>
          <a:xfrm xmlns:a="http://schemas.openxmlformats.org/drawingml/2006/main">
            <a:off x="8096250" y="4638675"/>
            <a:ext cx="35433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1717"/>
                </a:solidFill>
                <a:latin typeface="Arial"/>
                <a:ea typeface="Arial"/>
                <a:cs typeface="Arial"/>
              </a:defRPr>
            </a:pPr>
            <a:r>
              <a:rPr sz="1650" b="1">
                <a:solidFill>
                  <a:srgbClr val="171717"/>
                </a:solidFill>
                <a:latin typeface="Arial"/>
                <a:ea typeface="Arial"/>
                <a:cs typeface="Arial"/>
              </a:rPr>
              <a:t>Full-stack / knowledge engineer</a:t>
            </a:r>
          </a:p>
        </p:txBody>
      </p:sp>
      <p:sp>
        <p:nvSpPr>
          <p:cNvPr id="33" name="Wiki, editorial workflow, metadata&#10;and operati">
            <a:extLst xmlns:a="http://schemas.openxmlformats.org/drawingml/2006/main">
              <a:ext uri="{FF2B5EF4-FFF2-40B4-BE49-F238E27FC236}">
                <a16:creationId xmlns:a16="http://schemas.microsoft.com/office/drawing/2014/main" id="{1F4C6719-5483-4004-9D1D-1968642D4B9C}"/>
              </a:ext>
            </a:extLst>
          </p:cNvPr>
          <p:cNvSpPr>
            <a:spLocks xmlns:a="http://schemas.openxmlformats.org/drawingml/2006/main" noGrp="1"/>
          </p:cNvSpPr>
          <p:nvPr/>
        </p:nvSpPr>
        <p:spPr>
          <a:xfrm xmlns:a="http://schemas.openxmlformats.org/drawingml/2006/main">
            <a:off x="8096250" y="5019675"/>
            <a:ext cx="35433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Wiki, editorial workflow, metadata</a:t>
            </a:r>
          </a:p>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and operational handover</a:t>
            </a:r>
          </a:p>
        </p:txBody>
      </p:sp>
      <p:sp>
        <p:nvSpPr>
          <p:cNvPr id="34" name="Capacity: 180 PD in the core team, plus 10 PD">
            <a:extLst xmlns:a="http://schemas.openxmlformats.org/drawingml/2006/main">
              <a:ext uri="{FF2B5EF4-FFF2-40B4-BE49-F238E27FC236}">
                <a16:creationId xmlns:a16="http://schemas.microsoft.com/office/drawing/2014/main" id="{CB29A217-4E64-458E-8294-0C3642288B7B}"/>
              </a:ext>
            </a:extLst>
          </p:cNvPr>
          <p:cNvSpPr>
            <a:spLocks xmlns:a="http://schemas.openxmlformats.org/drawingml/2006/main" noGrp="1"/>
          </p:cNvSpPr>
          <p:nvPr/>
        </p:nvSpPr>
        <p:spPr>
          <a:xfrm xmlns:a="http://schemas.openxmlformats.org/drawingml/2006/main">
            <a:off x="533400" y="5781675"/>
            <a:ext cx="11125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1717"/>
                </a:solidFill>
                <a:latin typeface="Arial"/>
                <a:ea typeface="Arial"/>
                <a:cs typeface="Arial"/>
              </a:defRPr>
            </a:pPr>
            <a:r>
              <a:rPr sz="1650" b="1">
                <a:solidFill>
                  <a:srgbClr val="171717"/>
                </a:solidFill>
                <a:latin typeface="Arial"/>
                <a:ea typeface="Arial"/>
                <a:cs typeface="Arial"/>
              </a:rPr>
              <a:t>Capacity: 180 PD in the core team, plus 10 PD in A and 24 PD in B. Graphwise team separate.</a:t>
            </a:r>
          </a:p>
        </p:txBody>
      </p:sp>
      <p:sp>
        <p:nvSpPr>
          <p:cNvPr id="35" name="Daiichi Sankyo provides the product owner, do">
            <a:extLst xmlns:a="http://schemas.openxmlformats.org/drawingml/2006/main">
              <a:ext uri="{FF2B5EF4-FFF2-40B4-BE49-F238E27FC236}">
                <a16:creationId xmlns:a16="http://schemas.microsoft.com/office/drawing/2014/main" id="{CC35FF85-053E-4FE9-8738-A50111778304}"/>
              </a:ext>
            </a:extLst>
          </p:cNvPr>
          <p:cNvSpPr>
            <a:spLocks xmlns:a="http://schemas.openxmlformats.org/drawingml/2006/main" noGrp="1"/>
          </p:cNvSpPr>
          <p:nvPr/>
        </p:nvSpPr>
        <p:spPr>
          <a:xfrm xmlns:a="http://schemas.openxmlformats.org/drawingml/2006/main">
            <a:off x="533400" y="6134100"/>
            <a:ext cx="111252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65A5C"/>
                </a:solidFill>
                <a:latin typeface="Arial"/>
                <a:ea typeface="Arial"/>
                <a:cs typeface="Arial"/>
              </a:defRPr>
            </a:pPr>
            <a:r>
              <a:rPr sz="1575" b="0">
                <a:solidFill>
                  <a:srgbClr val="565A5C"/>
                </a:solidFill>
                <a:latin typeface="Arial"/>
                <a:ea typeface="Arial"/>
                <a:cs typeface="Arial"/>
              </a:rPr>
              <a:t>Daiichi Sankyo provides the product owner, domain reviewers and IT support.</a:t>
            </a:r>
          </a:p>
        </p:txBody>
      </p:sp>
    </p:spTree>
    <p:extLst>
      <p:ext uri="{BB962C8B-B14F-4D97-AF65-F5344CB8AC3E}">
        <p14:creationId xmlns:p14="http://schemas.microsoft.com/office/powerpoint/2010/main" val="201711885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Effort and cost of the proposal options">
            <a:extLst xmlns:a="http://schemas.openxmlformats.org/drawingml/2006/main">
              <a:ext uri="{FF2B5EF4-FFF2-40B4-BE49-F238E27FC236}">
                <a16:creationId xmlns:a16="http://schemas.microsoft.com/office/drawing/2014/main" id="{23627B44-3840-4F85-B78B-820F2AD584A9}"/>
              </a:ext>
            </a:extLst>
          </p:cNvPr>
          <p:cNvSpPr>
            <a:spLocks xmlns:a="http://schemas.openxmlformats.org/drawingml/2006/main" noGrp="1"/>
          </p:cNvSpPr>
          <p:nvPr/>
        </p:nvSpPr>
        <p:spPr>
          <a:xfrm xmlns:a="http://schemas.openxmlformats.org/drawingml/2006/main">
            <a:off x="533400" y="361950"/>
            <a:ext cx="11125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00" b="1">
                <a:solidFill>
                  <a:srgbClr val="171717"/>
                </a:solidFill>
                <a:latin typeface="Arial"/>
                <a:ea typeface="Arial"/>
                <a:cs typeface="Arial"/>
              </a:defRPr>
            </a:pPr>
            <a:r>
              <a:rPr sz="3000" b="1">
                <a:solidFill>
                  <a:srgbClr val="171717"/>
                </a:solidFill>
                <a:latin typeface="Arial"/>
                <a:ea typeface="Arial"/>
                <a:cs typeface="Arial"/>
              </a:rPr>
              <a:t>Effort and cost of the proposal options</a:t>
            </a:r>
          </a:p>
        </p:txBody>
      </p:sp>
      <p:sp>
        <p:nvSpPr>
          <p:cNvPr id="2" name="Planning basis for twelve weeks · EUR 950 per">
            <a:extLst xmlns:a="http://schemas.openxmlformats.org/drawingml/2006/main">
              <a:ext uri="{FF2B5EF4-FFF2-40B4-BE49-F238E27FC236}">
                <a16:creationId xmlns:a16="http://schemas.microsoft.com/office/drawing/2014/main" id="{0E335D2F-0CDF-444C-B466-85E757D3A0FA}"/>
              </a:ext>
            </a:extLst>
          </p:cNvPr>
          <p:cNvSpPr>
            <a:spLocks xmlns:a="http://schemas.openxmlformats.org/drawingml/2006/main" noGrp="1"/>
          </p:cNvSpPr>
          <p:nvPr/>
        </p:nvSpPr>
        <p:spPr>
          <a:xfrm xmlns:a="http://schemas.openxmlformats.org/drawingml/2006/main">
            <a:off x="533400" y="99060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565A5C"/>
                </a:solidFill>
                <a:latin typeface="Arial"/>
                <a:ea typeface="Arial"/>
                <a:cs typeface="Arial"/>
              </a:defRPr>
            </a:pPr>
            <a:r>
              <a:rPr sz="1725" b="0">
                <a:solidFill>
                  <a:srgbClr val="565A5C"/>
                </a:solidFill>
                <a:latin typeface="Arial"/>
                <a:ea typeface="Arial"/>
                <a:cs typeface="Arial"/>
              </a:rPr>
              <a:t>Planning basis for twelve weeks · EUR 950 per person-day · contingency included</a:t>
            </a:r>
          </a:p>
        </p:txBody>
      </p:sp>
      <p:sp>
        <p:nvSpPr>
          <p:cNvPr id="3" name="">
            <a:extLst xmlns:a="http://schemas.openxmlformats.org/drawingml/2006/main">
              <a:ext uri="{FF2B5EF4-FFF2-40B4-BE49-F238E27FC236}">
                <a16:creationId xmlns:a16="http://schemas.microsoft.com/office/drawing/2014/main" id="{BC8DE8C3-9B34-4457-885B-B4C291F5DD62}"/>
              </a:ext>
            </a:extLst>
          </p:cNvPr>
          <p:cNvSpPr>
            <a:spLocks xmlns:a="http://schemas.openxmlformats.org/drawingml/2006/main" noGrp="1"/>
          </p:cNvSpPr>
          <p:nvPr/>
        </p:nvSpPr>
        <p:spPr>
          <a:xfrm xmlns:a="http://schemas.openxmlformats.org/drawingml/2006/main">
            <a:off x="533400" y="6477000"/>
            <a:ext cx="111252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4" name="Daiichi Sankyo | Enterprise Knowledge Base">
            <a:extLst xmlns:a="http://schemas.openxmlformats.org/drawingml/2006/main">
              <a:ext uri="{FF2B5EF4-FFF2-40B4-BE49-F238E27FC236}">
                <a16:creationId xmlns:a16="http://schemas.microsoft.com/office/drawing/2014/main" id="{EBECB179-F128-4627-AEC1-9FD224F5EDD6}"/>
              </a:ext>
            </a:extLst>
          </p:cNvPr>
          <p:cNvSpPr>
            <a:spLocks xmlns:a="http://schemas.openxmlformats.org/drawingml/2006/main" noGrp="1"/>
          </p:cNvSpPr>
          <p:nvPr/>
        </p:nvSpPr>
        <p:spPr>
          <a:xfrm xmlns:a="http://schemas.openxmlformats.org/drawingml/2006/main">
            <a:off x="533400" y="6572250"/>
            <a:ext cx="8572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 b="0">
                <a:solidFill>
                  <a:srgbClr val="565A5C"/>
                </a:solidFill>
                <a:latin typeface="Arial"/>
                <a:ea typeface="Arial"/>
                <a:cs typeface="Arial"/>
              </a:defRPr>
            </a:pPr>
            <a:r>
              <a:rPr sz="1050" b="0">
                <a:solidFill>
                  <a:srgbClr val="565A5C"/>
                </a:solidFill>
                <a:latin typeface="Arial"/>
                <a:ea typeface="Arial"/>
                <a:cs typeface="Arial"/>
              </a:rPr>
              <a:t>Daiichi Sankyo | Enterprise Knowledge Base</a:t>
            </a:r>
          </a:p>
        </p:txBody>
      </p:sp>
      <p:sp>
        <p:nvSpPr>
          <p:cNvPr id="5" name="05">
            <a:extLst xmlns:a="http://schemas.openxmlformats.org/drawingml/2006/main">
              <a:ext uri="{FF2B5EF4-FFF2-40B4-BE49-F238E27FC236}">
                <a16:creationId xmlns:a16="http://schemas.microsoft.com/office/drawing/2014/main" id="{4242284F-893E-4822-8B98-B03841427DA2}"/>
              </a:ext>
            </a:extLst>
          </p:cNvPr>
          <p:cNvSpPr>
            <a:spLocks xmlns:a="http://schemas.openxmlformats.org/drawingml/2006/main" noGrp="1"/>
          </p:cNvSpPr>
          <p:nvPr/>
        </p:nvSpPr>
        <p:spPr>
          <a:xfrm xmlns:a="http://schemas.openxmlformats.org/drawingml/2006/main">
            <a:off x="11277600" y="65341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0">
                <a:solidFill>
                  <a:srgbClr val="565A5C"/>
                </a:solidFill>
                <a:latin typeface="Arial"/>
                <a:ea typeface="Arial"/>
                <a:cs typeface="Arial"/>
              </a:defRPr>
            </a:pPr>
            <a:r>
              <a:rPr sz="1275" b="0">
                <a:solidFill>
                  <a:srgbClr val="565A5C"/>
                </a:solidFill>
                <a:latin typeface="Arial"/>
                <a:ea typeface="Arial"/>
                <a:cs typeface="Arial"/>
              </a:rPr>
              <a:t>05</a:t>
            </a:r>
          </a:p>
        </p:txBody>
      </p:sp>
      <p:graphicFrame>
        <p:nvGraphicFramePr>
          <p:cNvPr id="22" name=""/>
          <p:cNvGraphicFramePr/>
          <p:nvPr/>
        </p:nvGraphicFramePr>
        <p:xfrm>
          <a:off xmlns:a="http://schemas.openxmlformats.org/drawingml/2006/main" x="533400" y="1533525"/>
          <a:ext xmlns:a="http://schemas.openxmlformats.org/drawingml/2006/main" cx="7334250" cy="4076700"/>
        </p:xfrm>
        <a:graphic xmlns:a="http://schemas.openxmlformats.org/drawingml/2006/main">
          <a:graphicData uri="http://schemas.openxmlformats.org/drawingml/2006/table">
            <a:tbl>
              <a:tblPr firstRow="0" firstCol="0" bandRow="0"/>
              <a:tblGrid>
                <a:gridCol w="5086350"/>
                <a:gridCol w="1123950"/>
                <a:gridCol w="1123950"/>
              </a:tblGrid>
              <a:tr h="466725">
                <a:tc>
                  <a:txBody>
                    <a:bodyPr wrap="square" lIns="152400" tIns="95250" rIns="152400" bIns="95250">
                      <a:noAutofit/>
                    </a:bodyPr>
                    <a:lstStyle/>
                    <a:p>
                      <a:pPr algn="l"/>
                      <a:r>
                        <a:rPr sz="1575" b="1">
                          <a:solidFill>
                            <a:srgbClr val="FFFFFF"/>
                          </a:solidFill>
                          <a:latin typeface="Arial"/>
                          <a:ea typeface="Arial"/>
                          <a:cs typeface="Arial"/>
                        </a:rPr>
                        <a:t>Deloitte scope of work</a:t>
                      </a:r>
                    </a:p>
                  </a:txBody>
                  <a:tcPr marL="91440" marR="91440" marT="45720" marB="45720" anchor="ctr">
                    <a:solidFill>
                      <a:srgbClr val="171717"/>
                    </a:solidFill>
                  </a:tcPr>
                </a:tc>
                <a:tc>
                  <a:txBody>
                    <a:bodyPr wrap="square" lIns="152400" tIns="95250" rIns="152400" bIns="95250">
                      <a:noAutofit/>
                    </a:bodyPr>
                    <a:lstStyle/>
                    <a:p>
                      <a:pPr algn="r"/>
                      <a:r>
                        <a:rPr sz="1575" b="1">
                          <a:solidFill>
                            <a:srgbClr val="FFFFFF"/>
                          </a:solidFill>
                          <a:latin typeface="Arial"/>
                          <a:ea typeface="Arial"/>
                          <a:cs typeface="Arial"/>
                        </a:rPr>
                        <a:t>A · PD</a:t>
                      </a:r>
                    </a:p>
                  </a:txBody>
                  <a:tcPr marL="91440" marR="91440" marT="45720" marB="45720" anchor="ctr">
                    <a:solidFill>
                      <a:srgbClr val="171717"/>
                    </a:solidFill>
                  </a:tcPr>
                </a:tc>
                <a:tc>
                  <a:txBody>
                    <a:bodyPr wrap="square" lIns="152400" tIns="95250" rIns="152400" bIns="95250">
                      <a:noAutofit/>
                    </a:bodyPr>
                    <a:lstStyle/>
                    <a:p>
                      <a:pPr algn="r"/>
                      <a:r>
                        <a:rPr sz="1575" b="1">
                          <a:solidFill>
                            <a:srgbClr val="FFFFFF"/>
                          </a:solidFill>
                          <a:latin typeface="Arial"/>
                          <a:ea typeface="Arial"/>
                          <a:cs typeface="Arial"/>
                        </a:rPr>
                        <a:t>B · PD</a:t>
                      </a:r>
                    </a:p>
                  </a:txBody>
                  <a:tcPr marL="91440" marR="91440" marT="45720" marB="45720" anchor="ctr">
                    <a:solidFill>
                      <a:srgbClr val="171717"/>
                    </a:solidFill>
                  </a:tcPr>
                </a:tc>
              </a:tr>
              <a:tr h="419100">
                <a:tc>
                  <a:txBody>
                    <a:bodyPr wrap="square" lIns="152400" tIns="95250" rIns="152400" bIns="95250">
                      <a:noAutofit/>
                    </a:bodyPr>
                    <a:lstStyle/>
                    <a:p>
                      <a:pPr algn="l"/>
                      <a:r>
                        <a:rPr sz="1575" b="1">
                          <a:solidFill>
                            <a:srgbClr val="171717"/>
                          </a:solidFill>
                          <a:latin typeface="Arial"/>
                          <a:ea typeface="Arial"/>
                          <a:cs typeface="Arial"/>
                        </a:rPr>
                        <a:t>Discovery and architecture</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16</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16</a:t>
                      </a:r>
                    </a:p>
                  </a:txBody>
                  <a:tcPr marL="91440" marR="91440" marT="45720" marB="45720" anchor="ctr">
                    <a:solidFill>
                      <a:srgbClr val="F4F5F3"/>
                    </a:solidFill>
                  </a:tcPr>
                </a:tc>
              </a:tr>
              <a:tr h="523875">
                <a:tc>
                  <a:txBody>
                    <a:bodyPr wrap="square" lIns="152400" tIns="95250" rIns="152400" bIns="95250">
                      <a:noAutofit/>
                    </a:bodyPr>
                    <a:lstStyle/>
                    <a:p>
                      <a:pPr algn="l"/>
                      <a:r>
                        <a:rPr sz="1575" b="1">
                          <a:solidFill>
                            <a:srgbClr val="171717"/>
                          </a:solidFill>
                          <a:latin typeface="Arial"/>
                          <a:ea typeface="Arial"/>
                          <a:cs typeface="Arial"/>
                        </a:rPr>
                        <a:t>Source ingestion and automated wiki</a:t>
                      </a:r>
                    </a:p>
                  </a:txBody>
                  <a:tcPr marL="91440" marR="91440" marT="45720" marB="45720" anchor="ctr">
                    <a:solidFill>
                      <a:srgbClr val="FFFFFF"/>
                    </a:solidFill>
                  </a:tcPr>
                </a:tc>
                <a:tc>
                  <a:txBody>
                    <a:bodyPr wrap="square" lIns="152400" tIns="95250" rIns="152400" bIns="95250">
                      <a:noAutofit/>
                    </a:bodyPr>
                    <a:lstStyle/>
                    <a:p>
                      <a:pPr algn="r"/>
                      <a:r>
                        <a:rPr sz="1575" b="0">
                          <a:solidFill>
                            <a:srgbClr val="171717"/>
                          </a:solidFill>
                          <a:latin typeface="Arial"/>
                          <a:ea typeface="Arial"/>
                          <a:cs typeface="Arial"/>
                        </a:rPr>
                        <a:t>70</a:t>
                      </a:r>
                    </a:p>
                  </a:txBody>
                  <a:tcPr marL="91440" marR="91440" marT="45720" marB="45720" anchor="ctr">
                    <a:solidFill>
                      <a:srgbClr val="FFFFFF"/>
                    </a:solidFill>
                  </a:tcPr>
                </a:tc>
                <a:tc>
                  <a:txBody>
                    <a:bodyPr wrap="square" lIns="152400" tIns="95250" rIns="152400" bIns="95250">
                      <a:noAutofit/>
                    </a:bodyPr>
                    <a:lstStyle/>
                    <a:p>
                      <a:pPr algn="r"/>
                      <a:r>
                        <a:rPr sz="1575" b="0">
                          <a:solidFill>
                            <a:srgbClr val="171717"/>
                          </a:solidFill>
                          <a:latin typeface="Arial"/>
                          <a:ea typeface="Arial"/>
                          <a:cs typeface="Arial"/>
                        </a:rPr>
                        <a:t>70</a:t>
                      </a:r>
                    </a:p>
                  </a:txBody>
                  <a:tcPr marL="91440" marR="91440" marT="45720" marB="45720" anchor="ctr">
                    <a:solidFill>
                      <a:srgbClr val="FFFFFF"/>
                    </a:solidFill>
                  </a:tcPr>
                </a:tc>
              </a:tr>
              <a:tr h="419100">
                <a:tc>
                  <a:txBody>
                    <a:bodyPr wrap="square" lIns="152400" tIns="95250" rIns="152400" bIns="95250">
                      <a:noAutofit/>
                    </a:bodyPr>
                    <a:lstStyle/>
                    <a:p>
                      <a:pPr algn="l"/>
                      <a:r>
                        <a:rPr sz="1575" b="1">
                          <a:solidFill>
                            <a:srgbClr val="171717"/>
                          </a:solidFill>
                          <a:latin typeface="Arial"/>
                          <a:ea typeface="Arial"/>
                          <a:cs typeface="Arial"/>
                        </a:rPr>
                        <a:t>Search and agent access</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29</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29</a:t>
                      </a:r>
                    </a:p>
                  </a:txBody>
                  <a:tcPr marL="91440" marR="91440" marT="45720" marB="45720" anchor="ctr">
                    <a:solidFill>
                      <a:srgbClr val="F4F5F3"/>
                    </a:solidFill>
                  </a:tcPr>
                </a:tc>
              </a:tr>
              <a:tr h="523875">
                <a:tc>
                  <a:txBody>
                    <a:bodyPr wrap="square" lIns="152400" tIns="95250" rIns="152400" bIns="95250">
                      <a:noAutofit/>
                    </a:bodyPr>
                    <a:lstStyle/>
                    <a:p>
                      <a:pPr algn="l"/>
                      <a:r>
                        <a:rPr sz="1575" b="1">
                          <a:solidFill>
                            <a:srgbClr val="171717"/>
                          </a:solidFill>
                          <a:latin typeface="Arial"/>
                          <a:ea typeface="Arial"/>
                          <a:cs typeface="Arial"/>
                        </a:rPr>
                        <a:t>Base graph / Graphwise integration</a:t>
                      </a:r>
                    </a:p>
                  </a:txBody>
                  <a:tcPr marL="91440" marR="91440" marT="45720" marB="45720" anchor="ctr">
                    <a:solidFill>
                      <a:srgbClr val="FFFFFF"/>
                    </a:solidFill>
                  </a:tcPr>
                </a:tc>
                <a:tc>
                  <a:txBody>
                    <a:bodyPr wrap="square" lIns="152400" tIns="95250" rIns="152400" bIns="95250">
                      <a:noAutofit/>
                    </a:bodyPr>
                    <a:lstStyle/>
                    <a:p>
                      <a:pPr algn="r"/>
                      <a:r>
                        <a:rPr sz="1575" b="0">
                          <a:solidFill>
                            <a:srgbClr val="171717"/>
                          </a:solidFill>
                          <a:latin typeface="Arial"/>
                          <a:ea typeface="Arial"/>
                          <a:cs typeface="Arial"/>
                        </a:rPr>
                        <a:t>8</a:t>
                      </a:r>
                    </a:p>
                  </a:txBody>
                  <a:tcPr marL="91440" marR="91440" marT="45720" marB="45720" anchor="ctr">
                    <a:solidFill>
                      <a:srgbClr val="FFFFFF"/>
                    </a:solidFill>
                  </a:tcPr>
                </a:tc>
                <a:tc>
                  <a:txBody>
                    <a:bodyPr wrap="square" lIns="152400" tIns="95250" rIns="152400" bIns="95250">
                      <a:noAutofit/>
                    </a:bodyPr>
                    <a:lstStyle/>
                    <a:p>
                      <a:pPr algn="r"/>
                      <a:r>
                        <a:rPr sz="1575" b="0">
                          <a:solidFill>
                            <a:srgbClr val="171717"/>
                          </a:solidFill>
                          <a:latin typeface="Arial"/>
                          <a:ea typeface="Arial"/>
                          <a:cs typeface="Arial"/>
                        </a:rPr>
                        <a:t>21</a:t>
                      </a:r>
                    </a:p>
                  </a:txBody>
                  <a:tcPr marL="91440" marR="91440" marT="45720" marB="45720" anchor="ctr">
                    <a:solidFill>
                      <a:srgbClr val="FFFFFF"/>
                    </a:solidFill>
                  </a:tcPr>
                </a:tc>
              </a:tr>
              <a:tr h="419100">
                <a:tc>
                  <a:txBody>
                    <a:bodyPr wrap="square" lIns="152400" tIns="95250" rIns="152400" bIns="95250">
                      <a:noAutofit/>
                    </a:bodyPr>
                    <a:lstStyle/>
                    <a:p>
                      <a:pPr algn="l"/>
                      <a:r>
                        <a:rPr sz="1575" b="1">
                          <a:solidFill>
                            <a:srgbClr val="171717"/>
                          </a:solidFill>
                          <a:latin typeface="Arial"/>
                          <a:ea typeface="Arial"/>
                          <a:cs typeface="Arial"/>
                        </a:rPr>
                        <a:t>Evaluation, operations and handover</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36</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36</a:t>
                      </a:r>
                    </a:p>
                  </a:txBody>
                  <a:tcPr marL="91440" marR="91440" marT="45720" marB="45720" anchor="ctr">
                    <a:solidFill>
                      <a:srgbClr val="F4F5F3"/>
                    </a:solidFill>
                  </a:tcPr>
                </a:tc>
              </a:tr>
              <a:tr h="419100">
                <a:tc>
                  <a:txBody>
                    <a:bodyPr wrap="square" lIns="152400" tIns="95250" rIns="152400" bIns="95250">
                      <a:noAutofit/>
                    </a:bodyPr>
                    <a:lstStyle/>
                    <a:p>
                      <a:pPr algn="l"/>
                      <a:r>
                        <a:rPr sz="1575" b="1">
                          <a:solidFill>
                            <a:srgbClr val="171717"/>
                          </a:solidFill>
                          <a:latin typeface="Arial"/>
                          <a:ea typeface="Arial"/>
                          <a:cs typeface="Arial"/>
                        </a:rPr>
                        <a:t>Technical leadership</a:t>
                      </a:r>
                    </a:p>
                  </a:txBody>
                  <a:tcPr marL="91440" marR="91440" marT="45720" marB="45720" anchor="ctr">
                    <a:solidFill>
                      <a:srgbClr val="FFFFFF"/>
                    </a:solidFill>
                  </a:tcPr>
                </a:tc>
                <a:tc>
                  <a:txBody>
                    <a:bodyPr wrap="square" lIns="152400" tIns="95250" rIns="152400" bIns="95250">
                      <a:noAutofit/>
                    </a:bodyPr>
                    <a:lstStyle/>
                    <a:p>
                      <a:pPr algn="r"/>
                      <a:r>
                        <a:rPr sz="1575" b="0">
                          <a:solidFill>
                            <a:srgbClr val="171717"/>
                          </a:solidFill>
                          <a:latin typeface="Arial"/>
                          <a:ea typeface="Arial"/>
                          <a:cs typeface="Arial"/>
                        </a:rPr>
                        <a:t>13</a:t>
                      </a:r>
                    </a:p>
                  </a:txBody>
                  <a:tcPr marL="91440" marR="91440" marT="45720" marB="45720" anchor="ctr">
                    <a:solidFill>
                      <a:srgbClr val="FFFFFF"/>
                    </a:solidFill>
                  </a:tcPr>
                </a:tc>
                <a:tc>
                  <a:txBody>
                    <a:bodyPr wrap="square" lIns="152400" tIns="95250" rIns="152400" bIns="95250">
                      <a:noAutofit/>
                    </a:bodyPr>
                    <a:lstStyle/>
                    <a:p>
                      <a:pPr algn="r"/>
                      <a:r>
                        <a:rPr sz="1575" b="0">
                          <a:solidFill>
                            <a:srgbClr val="171717"/>
                          </a:solidFill>
                          <a:latin typeface="Arial"/>
                          <a:ea typeface="Arial"/>
                          <a:cs typeface="Arial"/>
                        </a:rPr>
                        <a:t>13</a:t>
                      </a:r>
                    </a:p>
                  </a:txBody>
                  <a:tcPr marL="91440" marR="91440" marT="45720" marB="45720" anchor="ctr">
                    <a:solidFill>
                      <a:srgbClr val="FFFFFF"/>
                    </a:solidFill>
                  </a:tcPr>
                </a:tc>
              </a:tr>
              <a:tr h="419100">
                <a:tc>
                  <a:txBody>
                    <a:bodyPr wrap="square" lIns="152400" tIns="95250" rIns="152400" bIns="95250">
                      <a:noAutofit/>
                    </a:bodyPr>
                    <a:lstStyle/>
                    <a:p>
                      <a:pPr algn="l"/>
                      <a:r>
                        <a:rPr sz="1575" b="1">
                          <a:solidFill>
                            <a:srgbClr val="171717"/>
                          </a:solidFill>
                          <a:latin typeface="Arial"/>
                          <a:ea typeface="Arial"/>
                          <a:cs typeface="Arial"/>
                        </a:rPr>
                        <a:t>Contingency (10%, rounded up)</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18</a:t>
                      </a:r>
                    </a:p>
                  </a:txBody>
                  <a:tcPr marL="91440" marR="91440" marT="45720" marB="45720" anchor="ctr">
                    <a:solidFill>
                      <a:srgbClr val="F4F5F3"/>
                    </a:solidFill>
                  </a:tcPr>
                </a:tc>
                <a:tc>
                  <a:txBody>
                    <a:bodyPr wrap="square" lIns="152400" tIns="95250" rIns="152400" bIns="95250">
                      <a:noAutofit/>
                    </a:bodyPr>
                    <a:lstStyle/>
                    <a:p>
                      <a:pPr algn="r"/>
                      <a:r>
                        <a:rPr sz="1575" b="0">
                          <a:solidFill>
                            <a:srgbClr val="171717"/>
                          </a:solidFill>
                          <a:latin typeface="Arial"/>
                          <a:ea typeface="Arial"/>
                          <a:cs typeface="Arial"/>
                        </a:rPr>
                        <a:t>19</a:t>
                      </a:r>
                    </a:p>
                  </a:txBody>
                  <a:tcPr marL="91440" marR="91440" marT="45720" marB="45720" anchor="ctr">
                    <a:solidFill>
                      <a:srgbClr val="F4F5F3"/>
                    </a:solidFill>
                  </a:tcPr>
                </a:tc>
              </a:tr>
              <a:tr h="466725">
                <a:tc>
                  <a:txBody>
                    <a:bodyPr wrap="square" lIns="152400" tIns="95250" rIns="152400" bIns="95250">
                      <a:noAutofit/>
                    </a:bodyPr>
                    <a:lstStyle/>
                    <a:p>
                      <a:pPr algn="l"/>
                      <a:r>
                        <a:rPr sz="1575" b="1">
                          <a:solidFill>
                            <a:srgbClr val="171717"/>
                          </a:solidFill>
                          <a:latin typeface="Arial"/>
                          <a:ea typeface="Arial"/>
                          <a:cs typeface="Arial"/>
                        </a:rPr>
                        <a:t>Deloitte total</a:t>
                      </a:r>
                    </a:p>
                  </a:txBody>
                  <a:tcPr marL="91440" marR="91440" marT="45720" marB="45720" anchor="ctr">
                    <a:solidFill>
                      <a:srgbClr val="F0F6E7"/>
                    </a:solidFill>
                  </a:tcPr>
                </a:tc>
                <a:tc>
                  <a:txBody>
                    <a:bodyPr wrap="square" lIns="152400" tIns="95250" rIns="152400" bIns="95250">
                      <a:noAutofit/>
                    </a:bodyPr>
                    <a:lstStyle/>
                    <a:p>
                      <a:pPr algn="r"/>
                      <a:r>
                        <a:rPr sz="1575" b="1">
                          <a:solidFill>
                            <a:srgbClr val="171717"/>
                          </a:solidFill>
                          <a:latin typeface="Arial"/>
                          <a:ea typeface="Arial"/>
                          <a:cs typeface="Arial"/>
                        </a:rPr>
                        <a:t>190</a:t>
                      </a:r>
                    </a:p>
                  </a:txBody>
                  <a:tcPr marL="91440" marR="91440" marT="45720" marB="45720" anchor="ctr">
                    <a:solidFill>
                      <a:srgbClr val="F0F6E7"/>
                    </a:solidFill>
                  </a:tcPr>
                </a:tc>
                <a:tc>
                  <a:txBody>
                    <a:bodyPr wrap="square" lIns="152400" tIns="95250" rIns="152400" bIns="95250">
                      <a:noAutofit/>
                    </a:bodyPr>
                    <a:lstStyle/>
                    <a:p>
                      <a:pPr algn="r"/>
                      <a:r>
                        <a:rPr sz="1575" b="1">
                          <a:solidFill>
                            <a:srgbClr val="171717"/>
                          </a:solidFill>
                          <a:latin typeface="Arial"/>
                          <a:ea typeface="Arial"/>
                          <a:cs typeface="Arial"/>
                        </a:rPr>
                        <a:t>204</a:t>
                      </a:r>
                    </a:p>
                  </a:txBody>
                  <a:tcPr marL="91440" marR="91440" marT="45720" marB="45720" anchor="ctr">
                    <a:solidFill>
                      <a:srgbClr val="F0F6E7"/>
                    </a:solidFill>
                  </a:tcPr>
                </a:tc>
              </a:tr>
            </a:tbl>
          </a:graphicData>
        </a:graphic>
      </p:graphicFrame>
      <p:sp>
        <p:nvSpPr>
          <p:cNvPr id="7" name="A · KNOWLEDGE PoC · BASE GRAPH">
            <a:extLst xmlns:a="http://schemas.openxmlformats.org/drawingml/2006/main">
              <a:ext uri="{FF2B5EF4-FFF2-40B4-BE49-F238E27FC236}">
                <a16:creationId xmlns:a16="http://schemas.microsoft.com/office/drawing/2014/main" id="{715DB7E4-3F91-418E-8BCF-9231645BD7E4}"/>
              </a:ext>
            </a:extLst>
          </p:cNvPr>
          <p:cNvSpPr>
            <a:spLocks xmlns:a="http://schemas.openxmlformats.org/drawingml/2006/main" noGrp="1"/>
          </p:cNvSpPr>
          <p:nvPr/>
        </p:nvSpPr>
        <p:spPr>
          <a:xfrm xmlns:a="http://schemas.openxmlformats.org/drawingml/2006/main">
            <a:off x="8305800" y="1552575"/>
            <a:ext cx="335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8" b="1">
                <a:solidFill>
                  <a:srgbClr val="565A5C"/>
                </a:solidFill>
                <a:latin typeface="Arial"/>
                <a:ea typeface="Arial"/>
                <a:cs typeface="Arial"/>
              </a:defRPr>
            </a:pPr>
            <a:r>
              <a:rPr sz="1388" b="1">
                <a:solidFill>
                  <a:srgbClr val="565A5C"/>
                </a:solidFill>
                <a:latin typeface="Arial"/>
                <a:ea typeface="Arial"/>
                <a:cs typeface="Arial"/>
              </a:rPr>
              <a:t>A · KNOWLEDGE PoC · BASE GRAPH</a:t>
            </a:r>
          </a:p>
        </p:txBody>
      </p:sp>
      <p:sp>
        <p:nvSpPr>
          <p:cNvPr id="8" name="EUR 180,500">
            <a:extLst xmlns:a="http://schemas.openxmlformats.org/drawingml/2006/main">
              <a:ext uri="{FF2B5EF4-FFF2-40B4-BE49-F238E27FC236}">
                <a16:creationId xmlns:a16="http://schemas.microsoft.com/office/drawing/2014/main" id="{4358A42D-45A6-4A4A-8EE6-A2D0B9350CBC}"/>
              </a:ext>
            </a:extLst>
          </p:cNvPr>
          <p:cNvSpPr>
            <a:spLocks xmlns:a="http://schemas.openxmlformats.org/drawingml/2006/main" noGrp="1"/>
          </p:cNvSpPr>
          <p:nvPr/>
        </p:nvSpPr>
        <p:spPr>
          <a:xfrm xmlns:a="http://schemas.openxmlformats.org/drawingml/2006/main">
            <a:off x="8305800" y="1952625"/>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1717"/>
                </a:solidFill>
                <a:latin typeface="Arial"/>
                <a:ea typeface="Arial"/>
                <a:cs typeface="Arial"/>
              </a:defRPr>
            </a:pPr>
            <a:r>
              <a:rPr sz="3225" b="1">
                <a:solidFill>
                  <a:srgbClr val="171717"/>
                </a:solidFill>
                <a:latin typeface="Arial"/>
                <a:ea typeface="Arial"/>
                <a:cs typeface="Arial"/>
              </a:rPr>
              <a:t>EUR 180,500</a:t>
            </a:r>
          </a:p>
        </p:txBody>
      </p:sp>
      <p:sp>
        <p:nvSpPr>
          <p:cNvPr id="9" name="190 PD Deloitte">
            <a:extLst xmlns:a="http://schemas.openxmlformats.org/drawingml/2006/main">
              <a:ext uri="{FF2B5EF4-FFF2-40B4-BE49-F238E27FC236}">
                <a16:creationId xmlns:a16="http://schemas.microsoft.com/office/drawing/2014/main" id="{8F7BE43F-8B42-42D7-894F-06D7C46DCE98}"/>
              </a:ext>
            </a:extLst>
          </p:cNvPr>
          <p:cNvSpPr>
            <a:spLocks xmlns:a="http://schemas.openxmlformats.org/drawingml/2006/main" noGrp="1"/>
          </p:cNvSpPr>
          <p:nvPr/>
        </p:nvSpPr>
        <p:spPr>
          <a:xfrm xmlns:a="http://schemas.openxmlformats.org/drawingml/2006/main">
            <a:off x="8305800" y="2571750"/>
            <a:ext cx="335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65A5C"/>
                </a:solidFill>
                <a:latin typeface="Arial"/>
                <a:ea typeface="Arial"/>
                <a:cs typeface="Arial"/>
              </a:defRPr>
            </a:pPr>
            <a:r>
              <a:rPr sz="1650" b="0">
                <a:solidFill>
                  <a:srgbClr val="565A5C"/>
                </a:solidFill>
                <a:latin typeface="Arial"/>
                <a:ea typeface="Arial"/>
                <a:cs typeface="Arial"/>
              </a:rPr>
              <a:t>190 PD Deloitte</a:t>
            </a:r>
          </a:p>
        </p:txBody>
      </p:sp>
      <p:sp>
        <p:nvSpPr>
          <p:cNvPr id="10" name="">
            <a:extLst xmlns:a="http://schemas.openxmlformats.org/drawingml/2006/main">
              <a:ext uri="{FF2B5EF4-FFF2-40B4-BE49-F238E27FC236}">
                <a16:creationId xmlns:a16="http://schemas.microsoft.com/office/drawing/2014/main" id="{B4D2C303-239B-4E44-AC06-ACAACE77A31E}"/>
              </a:ext>
            </a:extLst>
          </p:cNvPr>
          <p:cNvSpPr>
            <a:spLocks xmlns:a="http://schemas.openxmlformats.org/drawingml/2006/main" noGrp="1"/>
          </p:cNvSpPr>
          <p:nvPr/>
        </p:nvSpPr>
        <p:spPr>
          <a:xfrm xmlns:a="http://schemas.openxmlformats.org/drawingml/2006/main">
            <a:off x="8305800" y="3000375"/>
            <a:ext cx="3352800" cy="0"/>
          </a:xfrm>
          <a:prstGeom xmlns:a="http://schemas.openxmlformats.org/drawingml/2006/main" prst="line">
            <a:avLst/>
          </a:prstGeom>
          <a:noFill xmlns:a="http://schemas.openxmlformats.org/drawingml/2006/main"/>
          <a:ln xmlns:a="http://schemas.openxmlformats.org/drawingml/2006/main" w="9525">
            <a:solidFill>
              <a:srgbClr val="D7DBD4"/>
            </a:solidFill>
          </a:ln>
        </p:spPr>
      </p:sp>
      <p:sp>
        <p:nvSpPr>
          <p:cNvPr id="11" name="B · KNOWLEDGE PoC · GRAPHWISE">
            <a:extLst xmlns:a="http://schemas.openxmlformats.org/drawingml/2006/main">
              <a:ext uri="{FF2B5EF4-FFF2-40B4-BE49-F238E27FC236}">
                <a16:creationId xmlns:a16="http://schemas.microsoft.com/office/drawing/2014/main" id="{124C22C5-1E89-40AB-AE48-6E545D0E94A2}"/>
              </a:ext>
            </a:extLst>
          </p:cNvPr>
          <p:cNvSpPr>
            <a:spLocks xmlns:a="http://schemas.openxmlformats.org/drawingml/2006/main" noGrp="1"/>
          </p:cNvSpPr>
          <p:nvPr/>
        </p:nvSpPr>
        <p:spPr>
          <a:xfrm xmlns:a="http://schemas.openxmlformats.org/drawingml/2006/main">
            <a:off x="8305800" y="3267075"/>
            <a:ext cx="335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88" b="1">
                <a:solidFill>
                  <a:srgbClr val="565A5C"/>
                </a:solidFill>
                <a:latin typeface="Arial"/>
                <a:ea typeface="Arial"/>
                <a:cs typeface="Arial"/>
              </a:defRPr>
            </a:pPr>
            <a:r>
              <a:rPr sz="1388" b="1">
                <a:solidFill>
                  <a:srgbClr val="565A5C"/>
                </a:solidFill>
                <a:latin typeface="Arial"/>
                <a:ea typeface="Arial"/>
                <a:cs typeface="Arial"/>
              </a:rPr>
              <a:t>B · KNOWLEDGE PoC · GRAPHWISE</a:t>
            </a:r>
          </a:p>
        </p:txBody>
      </p:sp>
      <p:sp>
        <p:nvSpPr>
          <p:cNvPr id="12" name="EUR 193,800">
            <a:extLst xmlns:a="http://schemas.openxmlformats.org/drawingml/2006/main">
              <a:ext uri="{FF2B5EF4-FFF2-40B4-BE49-F238E27FC236}">
                <a16:creationId xmlns:a16="http://schemas.microsoft.com/office/drawing/2014/main" id="{9E522387-2885-43FA-A2C6-85FFB0ED6F87}"/>
              </a:ext>
            </a:extLst>
          </p:cNvPr>
          <p:cNvSpPr>
            <a:spLocks xmlns:a="http://schemas.openxmlformats.org/drawingml/2006/main" noGrp="1"/>
          </p:cNvSpPr>
          <p:nvPr/>
        </p:nvSpPr>
        <p:spPr>
          <a:xfrm xmlns:a="http://schemas.openxmlformats.org/drawingml/2006/main">
            <a:off x="8305800" y="3667125"/>
            <a:ext cx="335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1717"/>
                </a:solidFill>
                <a:latin typeface="Arial"/>
                <a:ea typeface="Arial"/>
                <a:cs typeface="Arial"/>
              </a:defRPr>
            </a:pPr>
            <a:r>
              <a:rPr sz="3225" b="1">
                <a:solidFill>
                  <a:srgbClr val="171717"/>
                </a:solidFill>
                <a:latin typeface="Arial"/>
                <a:ea typeface="Arial"/>
                <a:cs typeface="Arial"/>
              </a:rPr>
              <a:t>EUR 193,800</a:t>
            </a:r>
          </a:p>
        </p:txBody>
      </p:sp>
      <p:sp>
        <p:nvSpPr>
          <p:cNvPr id="13" name="+ G">
            <a:extLst xmlns:a="http://schemas.openxmlformats.org/drawingml/2006/main">
              <a:ext uri="{FF2B5EF4-FFF2-40B4-BE49-F238E27FC236}">
                <a16:creationId xmlns:a16="http://schemas.microsoft.com/office/drawing/2014/main" id="{B68C9714-3878-4016-937F-30C17324C56E}"/>
              </a:ext>
            </a:extLst>
          </p:cNvPr>
          <p:cNvSpPr>
            <a:spLocks xmlns:a="http://schemas.openxmlformats.org/drawingml/2006/main" noGrp="1"/>
          </p:cNvSpPr>
          <p:nvPr/>
        </p:nvSpPr>
        <p:spPr>
          <a:xfrm xmlns:a="http://schemas.openxmlformats.org/drawingml/2006/main">
            <a:off x="8305800" y="4219575"/>
            <a:ext cx="335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850" b="1">
                <a:solidFill>
                  <a:srgbClr val="436C10"/>
                </a:solidFill>
                <a:latin typeface="Arial"/>
                <a:ea typeface="Arial"/>
                <a:cs typeface="Arial"/>
              </a:defRPr>
            </a:pPr>
            <a:r>
              <a:rPr sz="2850" b="1">
                <a:solidFill>
                  <a:srgbClr val="436C10"/>
                </a:solidFill>
                <a:latin typeface="Arial"/>
                <a:ea typeface="Arial"/>
                <a:cs typeface="Arial"/>
              </a:rPr>
              <a:t>+ G</a:t>
            </a:r>
          </a:p>
        </p:txBody>
      </p:sp>
      <p:sp>
        <p:nvSpPr>
          <p:cNvPr id="14" name="204 PD Deloitte&#10;+ separate Graphwise proposal">
            <a:extLst xmlns:a="http://schemas.openxmlformats.org/drawingml/2006/main">
              <a:ext uri="{FF2B5EF4-FFF2-40B4-BE49-F238E27FC236}">
                <a16:creationId xmlns:a16="http://schemas.microsoft.com/office/drawing/2014/main" id="{9E515284-4C44-4931-903A-7A1F970521FA}"/>
              </a:ext>
            </a:extLst>
          </p:cNvPr>
          <p:cNvSpPr>
            <a:spLocks xmlns:a="http://schemas.openxmlformats.org/drawingml/2006/main" noGrp="1"/>
          </p:cNvSpPr>
          <p:nvPr/>
        </p:nvSpPr>
        <p:spPr>
          <a:xfrm xmlns:a="http://schemas.openxmlformats.org/drawingml/2006/main">
            <a:off x="8305800" y="4829175"/>
            <a:ext cx="335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65A5C"/>
                </a:solidFill>
                <a:latin typeface="Arial"/>
                <a:ea typeface="Arial"/>
                <a:cs typeface="Arial"/>
              </a:defRPr>
            </a:pPr>
            <a:r>
              <a:rPr sz="1650" b="0">
                <a:solidFill>
                  <a:srgbClr val="565A5C"/>
                </a:solidFill>
                <a:latin typeface="Arial"/>
                <a:ea typeface="Arial"/>
                <a:cs typeface="Arial"/>
              </a:rPr>
              <a:t>204 PD Deloitte</a:t>
            </a:r>
          </a:p>
          <a:p xmlns:a="http://schemas.openxmlformats.org/drawingml/2006/main">
            <a:pPr algn="l">
              <a:defRPr sz="1650" b="0">
                <a:solidFill>
                  <a:srgbClr val="565A5C"/>
                </a:solidFill>
                <a:latin typeface="Arial"/>
                <a:ea typeface="Arial"/>
                <a:cs typeface="Arial"/>
              </a:defRPr>
            </a:pPr>
            <a:r>
              <a:rPr sz="1650" b="0">
                <a:solidFill>
                  <a:srgbClr val="565A5C"/>
                </a:solidFill>
                <a:latin typeface="Arial"/>
                <a:ea typeface="Arial"/>
                <a:cs typeface="Arial"/>
              </a:rPr>
              <a:t>+ separate Graphwise proposal</a:t>
            </a:r>
          </a:p>
        </p:txBody>
      </p:sp>
      <p:sp>
        <p:nvSpPr>
          <p:cNvPr id="15" name="G covers the Graphwise services plus agreed p">
            <a:extLst xmlns:a="http://schemas.openxmlformats.org/drawingml/2006/main">
              <a:ext uri="{FF2B5EF4-FFF2-40B4-BE49-F238E27FC236}">
                <a16:creationId xmlns:a16="http://schemas.microsoft.com/office/drawing/2014/main" id="{AE145975-6555-4DE4-8EF7-C08C4F3E25D6}"/>
              </a:ext>
            </a:extLst>
          </p:cNvPr>
          <p:cNvSpPr>
            <a:spLocks xmlns:a="http://schemas.openxmlformats.org/drawingml/2006/main" noGrp="1"/>
          </p:cNvSpPr>
          <p:nvPr/>
        </p:nvSpPr>
        <p:spPr>
          <a:xfrm xmlns:a="http://schemas.openxmlformats.org/drawingml/2006/main">
            <a:off x="533400" y="5753100"/>
            <a:ext cx="111252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1">
                <a:solidFill>
                  <a:srgbClr val="171717"/>
                </a:solidFill>
                <a:latin typeface="Arial"/>
                <a:ea typeface="Arial"/>
                <a:cs typeface="Arial"/>
              </a:defRPr>
            </a:pPr>
            <a:r>
              <a:rPr sz="1650" b="1">
                <a:solidFill>
                  <a:srgbClr val="171717"/>
                </a:solidFill>
                <a:latin typeface="Arial"/>
                <a:ea typeface="Arial"/>
                <a:cs typeface="Arial"/>
              </a:rPr>
              <a:t>G covers the Graphwise services plus agreed pilot licences and support. The partner price is still open.</a:t>
            </a:r>
          </a:p>
        </p:txBody>
      </p:sp>
      <p:sp>
        <p:nvSpPr>
          <p:cNvPr id="16" name="Excluding VAT. Infrastructure, travel and add">
            <a:extLst xmlns:a="http://schemas.openxmlformats.org/drawingml/2006/main">
              <a:ext uri="{FF2B5EF4-FFF2-40B4-BE49-F238E27FC236}">
                <a16:creationId xmlns:a16="http://schemas.microsoft.com/office/drawing/2014/main" id="{8878C220-3B67-476C-8FFC-2D376E31D1A7}"/>
              </a:ext>
            </a:extLst>
          </p:cNvPr>
          <p:cNvSpPr>
            <a:spLocks xmlns:a="http://schemas.openxmlformats.org/drawingml/2006/main" noGrp="1"/>
          </p:cNvSpPr>
          <p:nvPr/>
        </p:nvSpPr>
        <p:spPr>
          <a:xfrm xmlns:a="http://schemas.openxmlformats.org/drawingml/2006/main">
            <a:off x="533400" y="6134100"/>
            <a:ext cx="111252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65A5C"/>
                </a:solidFill>
                <a:latin typeface="Arial"/>
                <a:ea typeface="Arial"/>
                <a:cs typeface="Arial"/>
              </a:defRPr>
            </a:pPr>
            <a:r>
              <a:rPr sz="1500" b="0">
                <a:solidFill>
                  <a:srgbClr val="565A5C"/>
                </a:solidFill>
                <a:latin typeface="Arial"/>
                <a:ea typeface="Arial"/>
                <a:cs typeface="Arial"/>
              </a:rPr>
              <a:t>Excluding VAT. Infrastructure, travel and additional external services are shown separately.</a:t>
            </a:r>
          </a:p>
        </p:txBody>
      </p:sp>
    </p:spTree>
    <p:extLst>
      <p:ext uri="{BB962C8B-B14F-4D97-AF65-F5344CB8AC3E}">
        <p14:creationId xmlns:p14="http://schemas.microsoft.com/office/powerpoint/2010/main" val="1683536609"/>
      </p:ext>
    </p:extLst>
  </p:cSld>
</p:sld>
</file>

<file path=ppt/theme/theme1.xml><?xml version="1.0" encoding="utf-8"?>
<a:theme xmlns:a="http://schemas.openxmlformats.org/drawingml/2006/main" name="ChatGPT">
  <a:themeElements>
    <a:clrScheme name="Daiichi RFP">
      <a:dk1>
        <a:srgbClr val="171717"/>
      </a:dk1>
      <a:lt1>
        <a:srgbClr val="FFFFFF"/>
      </a:lt1>
      <a:dk2>
        <a:srgbClr val="565A5C"/>
      </a:dk2>
      <a:lt2>
        <a:srgbClr val="F4F5F3"/>
      </a:lt2>
      <a:accent1>
        <a:srgbClr val="86BC25"/>
      </a:accent1>
      <a:accent2>
        <a:srgbClr val="436C10"/>
      </a:accent2>
      <a:accent3>
        <a:srgbClr val="707B65"/>
      </a:accent3>
      <a:accent4>
        <a:srgbClr val="D8E8C0"/>
      </a:accent4>
      <a:accent5>
        <a:srgbClr val="55595C"/>
      </a:accent5>
      <a:accent6>
        <a:srgbClr val="B9C5AD"/>
      </a:accent6>
      <a:hlink>
        <a:srgbClr val="436C10"/>
      </a:hlink>
      <a:folHlink>
        <a:srgbClr val="436C10"/>
      </a:folHlink>
    </a:clrScheme>
    <a:fontScheme name="Office">
      <a:majorFont>
        <a:latin typeface="Calibri Light"/>
        <a:ea typeface="Calibri Light"/>
        <a:cs typeface="Calibri Light"/>
      </a:majorFont>
      <a:minorFont>
        <a:latin typeface="Calibri"/>
        <a:ea typeface="Calibri"/>
        <a:cs typeface="Calibri"/>
      </a:minorFont>
    </a:fontScheme>
    <a:fmtScheme name="Daiichi RFP">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2026-09-18T10:37:49.4060000Z</dcterms:created>
  <dcterms:modified xsi:type="dcterms:W3CDTF">2026-09-18T10:37:49.4060000Z</dcterms:modified>
</coreProperties>
</file>