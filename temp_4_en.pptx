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5fc3ff69064957" /><Relationship Type="http://schemas.openxmlformats.org/officeDocument/2006/relationships/extended-properties" Target="/docProps/app.xml" Id="R84870ac9cc9a40b9" /><Relationship Type="http://schemas.openxmlformats.org/officeDocument/2006/relationships/officeDocument" Target="/ppt/presentation.xml" Id="R47883a4edc4d4139" /></Relationships>
</file>

<file path=ppt/presentation.xml><?xml version="1.0" encoding="utf-8"?>
<p:presentation xmlns:p="http://schemas.openxmlformats.org/presentationml/2006/main">
  <p:sldMasterIdLst>
    <p:sldMasterId xmlns:r="http://schemas.openxmlformats.org/officeDocument/2006/relationships" id="2147483648" r:id="R939d9b19141046ea"/>
  </p:sldMasterIdLst>
  <p:notesMasterIdLst>
    <p:notesMasterId xmlns:r="http://schemas.openxmlformats.org/officeDocument/2006/relationships" r:id="Reb2c5f2fc86743b3"/>
  </p:notesMasterIdLst>
  <p:sldIdLst>
    <p:sldId xmlns:r="http://schemas.openxmlformats.org/officeDocument/2006/relationships" id="256" r:id="Rbad314f31dc24f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b58dda8b6e4881" /><Relationship Type="http://schemas.openxmlformats.org/officeDocument/2006/relationships/slideMaster" Target="/ppt/slideMasters/slideMaster1.xml" Id="R939d9b19141046ea" /><Relationship Type="http://schemas.openxmlformats.org/officeDocument/2006/relationships/notesMaster" Target="/ppt/notesMasters/notesMaster1.xml" Id="Reb2c5f2fc86743b3" /><Relationship Type="http://schemas.openxmlformats.org/officeDocument/2006/relationships/presProps" Target="/ppt/presProps.xml" Id="Rb0f314298c8643f3" /><Relationship Type="http://schemas.openxmlformats.org/officeDocument/2006/relationships/tableStyles" Target="/ppt/tableStyles.xml" Id="R8046a1ca64da4201" /><Relationship Type="http://schemas.openxmlformats.org/officeDocument/2006/relationships/slide" Target="/ppt/slides/slide1.xml" Id="Rbad314f31dc24f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c354dce61a4f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aiichi Knowledge Architecture">
      <a:dk1>
        <a:srgbClr val="151715"/>
      </a:dk1>
      <a:lt1>
        <a:srgbClr val="FFFFFF"/>
      </a:lt1>
      <a:dk2>
        <a:srgbClr val="555C56"/>
      </a:dk2>
      <a:lt2>
        <a:srgbClr val="F4F5F2"/>
      </a:lt2>
      <a:accent1>
        <a:srgbClr val="86BC25"/>
      </a:accent1>
      <a:accent2>
        <a:srgbClr val="426B12"/>
      </a:accent2>
      <a:accent3>
        <a:srgbClr val="6D7B61"/>
      </a:accent3>
      <a:accent4>
        <a:srgbClr val="D4E6BF"/>
      </a:accent4>
      <a:accent5>
        <a:srgbClr val="555C56"/>
      </a:accent5>
      <a:accent6>
        <a:srgbClr val="B9C7AB"/>
      </a:accent6>
      <a:hlink>
        <a:srgbClr val="426B12"/>
      </a:hlink>
      <a:folHlink>
        <a:srgbClr val="426B12"/>
      </a:folHlink>
    </a:clrScheme>
    <a:fontScheme name="Office">
      <a:majorFont>
        <a:latin typeface="Calibri Light"/>
        <a:ea typeface="Calibri Light"/>
        <a:cs typeface="Calibri Light"/>
      </a:majorFont>
      <a:minorFont>
        <a:latin typeface="Calibri"/>
        <a:ea typeface="Calibri"/>
        <a:cs typeface="Calibri"/>
      </a:minorFont>
    </a:fontScheme>
    <a:fmtScheme name="Daiichi Knowledge Archit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306895304b4849" /><Relationship Type="http://schemas.openxmlformats.org/officeDocument/2006/relationships/notesMaster" Target="/ppt/notesMasters/notesMaster1.xml" Id="Rb3bbea8ff7734d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reference architecture for the Daiichi Sankyo pilot. Deloitte delivers a complete knowledge PoC. Graphwise optionally extends it with a semantic workstream. The diagram describes the architecture being offered and not a guaranteed feature list of an existing internal platform.</a:t>
            </a:r>
          </a:p>
          <a:p xmlns:a="http://schemas.openxmlformats.org/drawingml/2006/main">
            <a:r>
              <a:t/>
            </a:r>
          </a:p>
          <a:p xmlns:a="http://schemas.openxmlformats.org/drawingml/2006/main">
            <a:r>
              <a:t>1. Source ingestion and evidence</a:t>
            </a:r>
          </a:p>
          <a:p xmlns:a="http://schemas.openxmlformats.org/drawingml/2006/main">
            <a:r>
              <a:t>Microsoft Graph handles access to SharePoint. For the PoC, an approved set of files is equally sufficient. Docling converts PDF and Office files. A lightweight Python process normalises the output and adds document ID, source revision, evidence, owner, lifecycle and access scope. Machine-managed sources are held as Markdown in sources/. Source evidence points to the relevant sections or PDF pages. SharePoint remains the origin of the imported evidence. Write-back is not foreseen.</a:t>
            </a:r>
          </a:p>
          <a:p xmlns:a="http://schemas.openxmlformats.org/drawingml/2006/main">
            <a:r>
              <a:t/>
            </a:r>
          </a:p>
          <a:p xmlns:a="http://schemas.openxmlformats.org/drawingml/2006/main">
            <a:r>
              <a:t>2. The Business Wiki</a:t>
            </a:r>
          </a:p>
          <a:p xmlns:a="http://schemas.openxmlformats.org/drawingml/2006/main">
            <a:r>
              <a:t>The wiki contains both source pages and curated pages approved by the business. Curated pages bring together information from several documents. A Python wiki service with a local LLM drafts pages with source evidence within a limited set of page types. It takes existing pages and their dependencies on sources into account. When a source changes, it proposes targeted changes to the affected pages. It never overwrites approved statements automatically.</a:t>
            </a:r>
          </a:p>
          <a:p xmlns:a="http://schemas.openxmlformats.org/drawingml/2006/main">
            <a:r>
              <a:t/>
            </a:r>
          </a:p>
          <a:p xmlns:a="http://schemas.openxmlformats.org/drawingml/2006/main">
            <a:r>
              <a:t>Daiichi Sankyo's domain owners review content and evidence. A lightweight editorial workflow implements the approval in Git. Business users do not have to handle branches themselves. Approved curated pages are held separately in knowledge/. Git documents the changes, and metadata describes status, owners, validity and supersession. Docusaurus provides navigation and presentation. The accompanying review UI belongs to the wiki service. Docusaurus alone creates no knowledge pages and replaces no editorial workflow.</a:t>
            </a:r>
          </a:p>
          <a:p xmlns:a="http://schemas.openxmlformats.org/drawingml/2006/main">
            <a:r>
              <a:t/>
            </a:r>
          </a:p>
          <a:p xmlns:a="http://schemas.openxmlformats.org/drawingml/2006/main">
            <a:r>
              <a:t>3. The optional Graphwise extension</a:t>
            </a:r>
          </a:p>
          <a:p xmlns:a="http://schemas.openxmlformats.org/drawingml/2006/main">
            <a:r>
              <a:t>Graphwise receives the same normalised corpus, including IDs, revisions, source evidence and access scope. It can start in parallel with wiki creation. Graphwise is responsible for the semantic model, entity resolution, evidenced relationships and the agreed graph services in and around GraphDB. Specific product modules and editions are set out in the joint proposal.</a:t>
            </a:r>
          </a:p>
          <a:p xmlns:a="http://schemas.openxmlformats.org/drawingml/2006/main">
            <a:r>
              <a:t/>
            </a:r>
          </a:p>
          <a:p xmlns:a="http://schemas.openxmlformats.org/drawingml/2006/main">
            <a:r>
              <a:t>The dashed return connection supplies tags, entity references and semantic context. Deloitte reviews these annotations and transfers them under control into reserved Markdown metadata and into wiki curation. Graphwise needs no direct write access to Git. A separate annotation revision prevents metadata changes from triggering source conversion again. Derived text and annotations must not imply new independent source evidence. Approved curated pages can supplement the graph later, provided their original evidence is preserved.</a:t>
            </a:r>
          </a:p>
          <a:p xmlns:a="http://schemas.openxmlformats.org/drawingml/2006/main">
            <a:r>
              <a:t/>
            </a:r>
          </a:p>
          <a:p xmlns:a="http://schemas.openxmlformats.org/drawingml/2006/main">
            <a:r>
              <a:t>A wiki page can describe several entities, and an entity can appear on several pages. Stable IDs or a mapping connect the two. Display names do not have to be identical. Git holds the approved wiki content, Graphwise the semantic model and the reviewed structured assertions. Where there are contradictions, domain owners decide on the basis of the sources. Curated graph assertions belong to the export and restore, together with the model, review status and evidence.</a:t>
            </a:r>
          </a:p>
          <a:p xmlns:a="http://schemas.openxmlformats.org/drawingml/2006/main">
            <a:r>
              <a:t/>
            </a:r>
          </a:p>
          <a:p xmlns:a="http://schemas.openxmlformats.org/drawingml/2006/main">
            <a:r>
              <a:t>4. Search, base graph and consumption</a:t>
            </a:r>
          </a:p>
          <a:p xmlns:a="http://schemas.openxmlformats.org/drawingml/2006/main">
            <a:r>
              <a:t>PostgreSQL full-text search and pgvector combine literal wording, semantic similarity and metadata filters. Search indexes source pages and approved curated pages. It splits them along headings and paragraphs into passages carrying document ID, revision, section evidence and access scope. Local embeddings support operation without external model APIs. A change refreshes only the affected passages. Access-only changes require no new embeddings. Relevance decides the ranking, and a curated page holds no blanket precedence over a better source. A specific fusion method or reranking will only be added where the benefit is demonstrated.</a:t>
            </a:r>
          </a:p>
          <a:p xmlns:a="http://schemas.openxmlformats.org/drawingml/2006/main">
            <a:r>
              <a:t/>
            </a:r>
          </a:p>
          <a:p xmlns:a="http://schemas.openxmlformats.org/drawingml/2006/main">
            <a:r>
              <a:t>Without Graphwise, a base graph of a few reviewed relationship types in wiki metadata, with a PostgreSQL projection and simple traversal, is sufficient for the pilot. Graphwise replaces and extends this relationship workstream. A second full graph is not built alongside it. The added value of the optional extension is measured on the same corpus using cross-document questions and curation effort.</a:t>
            </a:r>
          </a:p>
          <a:p xmlns:a="http://schemas.openxmlformats.org/drawingml/2006/main">
            <a:r>
              <a:t/>
            </a:r>
          </a:p>
          <a:p xmlns:a="http://schemas.openxmlformats.org/drawingml/2006/main">
            <a:r>
              <a:t>The FastAPI Knowledge API connects document search and graph queries, checks access rights and returns stable evidence. FastMCP gives agents a small number of functions: search, retrieve, query relationships and provenance, and propose changes. Proposals pass through the same approval process. Internally, the graph connection can use HTTP and SPARQL interfaces, so Graphwise does not have to provide an MCP server for this. The choice of agent tooling remains with Daiichi Sankyo.</a:t>
            </a:r>
          </a:p>
          <a:p xmlns:a="http://schemas.openxmlformats.org/drawingml/2006/main">
            <a:r>
              <a:t/>
            </a:r>
          </a:p>
          <a:p xmlns:a="http://schemas.openxmlformats.org/drawingml/2006/main">
            <a:r>
              <a:t>5. Operations and governance</a:t>
            </a:r>
          </a:p>
          <a:p xmlns:a="http://schemas.openxmlformats.org/drawingml/2006/main">
            <a:r>
              <a:t>The PoC is intended to run with Docker Compose on Linux and with local LLMs and embeddings. The model is selected during discovery on the basis of the pilot corpus and the available hardware. Live access to SharePoint Online requires network access; for a supplied corpus, no Azure or GCP runtime services are assumed. The complete Graphwise package, licence activation, models and further runtime dependencies are to be agreed explicitly with Graphwise. A documented SharePoint connector is not yet proof of autonomous local operation of the whole package.</a:t>
            </a:r>
          </a:p>
          <a:p xmlns:a="http://schemas.openxmlformats.org/drawingml/2006/main">
            <a:r>
              <a:t/>
            </a:r>
          </a:p>
          <a:p xmlns:a="http://schemas.openxmlformats.org/drawingml/2006/main">
            <a:r>
              <a:t>Wiki publication, search, tags, graph paths and evidence must follow the same access boundaries. Withdrawal of access does not wait for editorial approval. Static wiki pages are published only to their authorised audience. A Git copy of the entire corpus is permissible only where the recipient is authorised for all of it. A summary must not circumvent source permissions. Exportable content and rebuildable search indexes keep usage independent of the chosen search and agent product. Time-based evidence uses Git history, source revision, lifecycle and validity fields for now, rather than an additional temporal database.</a:t>
            </a:r>
          </a:p>
          <a:p xmlns:a="http://schemas.openxmlformats.org/drawingml/2006/main">
            <a:r>
              <a:t/>
            </a:r>
          </a:p>
          <a:p xmlns:a="http://schemas.openxmlformats.org/drawingml/2006/main">
            <a:r>
              <a:t>The pilot remains non-GxP. It covers twelve weeks including two weeks of discovery. This slide sets the technical reference without pre-empting unresolved vendor commitments or validation commitments.</a:t>
            </a:r>
          </a:p>
          <a:p xmlns:a="http://schemas.openxmlformats.org/drawingml/2006/main">
            <a:r>
              <a:t/>
            </a:r>
          </a:p>
          <a:p xmlns:a="http://schemas.openxmlformats.org/drawingml/2006/main">
            <a:r>
              <a:t>Source basis: RFP Enterprise Knowledge Base – Wiki, written Q&amp;A and meeting notes on Daiichi Sankyo and Graphwise. Architecture decision and delivery boundaries from the joint proposal planning.</a:t>
            </a:r>
          </a:p>
          <a:p xmlns:a="http://schemas.openxmlformats.org/drawingml/2006/main">
            <a:r>
              <a:t>Vendor documentation for the alignment:</a:t>
            </a:r>
          </a:p>
          <a:p xmlns:a="http://schemas.openxmlformats.org/drawingml/2006/main">
            <a:r>
              <a:t>https://help.graphwise.ai/en/graphwise-integrations/introduction-to-graphwise-for-microsoft-365/m365-connectors-deployment-overview.html</a:t>
            </a:r>
          </a:p>
          <a:p xmlns:a="http://schemas.openxmlformats.org/drawingml/2006/main">
            <a:r>
              <a:t>https://graphdb.ontotext.com/documentation/11.5/clients-and-apis.html</a:t>
            </a:r>
          </a:p>
          <a:p xmlns:a="http://schemas.openxmlformats.org/drawingml/2006/main">
            <a:r>
              <a:t>https://graphdb.ontotext.com/documentation/11.5/fine-grained-access-control.html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432446d1ca44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b27d90e60f4ebc" /><Relationship Type="http://schemas.openxmlformats.org/officeDocument/2006/relationships/slideLayout" Target="/ppt/slideLayouts/slideLayout1.xml" Id="R0d2519f2738c4e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2519f2738c4e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aiichi Knowledge Architecture">
      <a:dk1>
        <a:srgbClr val="151715"/>
      </a:dk1>
      <a:lt1>
        <a:srgbClr val="FFFFFF"/>
      </a:lt1>
      <a:dk2>
        <a:srgbClr val="555C56"/>
      </a:dk2>
      <a:lt2>
        <a:srgbClr val="F4F5F2"/>
      </a:lt2>
      <a:accent1>
        <a:srgbClr val="86BC25"/>
      </a:accent1>
      <a:accent2>
        <a:srgbClr val="426B12"/>
      </a:accent2>
      <a:accent3>
        <a:srgbClr val="6D7B61"/>
      </a:accent3>
      <a:accent4>
        <a:srgbClr val="D4E6BF"/>
      </a:accent4>
      <a:accent5>
        <a:srgbClr val="555C56"/>
      </a:accent5>
      <a:accent6>
        <a:srgbClr val="B9C7AB"/>
      </a:accent6>
      <a:hlink>
        <a:srgbClr val="426B12"/>
      </a:hlink>
      <a:folHlink>
        <a:srgbClr val="426B12"/>
      </a:folHlink>
    </a:clrScheme>
    <a:fontScheme name="Office">
      <a:majorFont>
        <a:latin typeface="Calibri Light"/>
        <a:ea typeface="Calibri Light"/>
        <a:cs typeface="Calibri Light"/>
      </a:majorFont>
      <a:minorFont>
        <a:latin typeface="Calibri"/>
        <a:ea typeface="Calibri"/>
        <a:cs typeface="Calibri"/>
      </a:minorFont>
    </a:fontScheme>
    <a:fmtScheme name="Daiichi Knowledge Archit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bba3cdb1494e0f" /><Relationship Type="http://schemas.openxmlformats.org/officeDocument/2006/relationships/notesSlide" Target="/ppt/notesSlides/notesSlide1.xml" Id="R04d60bc6a22044f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Business Wiki at the core of an open knowledge architecture">
            <a:extLst xmlns:a="http://schemas.openxmlformats.org/drawingml/2006/main">
              <a:ext uri="{FF2B5EF4-FFF2-40B4-BE49-F238E27FC236}">
                <a16:creationId xmlns:a16="http://schemas.microsoft.com/office/drawing/2014/main" id="{0BA7607B-7AA8-4598-AFAA-CAD2928F7EA0}"/>
              </a:ext>
            </a:extLst>
          </p:cNvPr>
          <p:cNvSpPr>
            <a:spLocks xmlns:a="http://schemas.openxmlformats.org/drawingml/2006/main" noGrp="1"/>
          </p:cNvSpPr>
          <p:nvPr/>
        </p:nvSpPr>
        <p:spPr>
          <a:xfrm xmlns:a="http://schemas.openxmlformats.org/drawingml/2006/main">
            <a:off x="457200" y="276225"/>
            <a:ext cx="11277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51715"/>
                </a:solidFill>
                <a:latin typeface="Arial"/>
                <a:ea typeface="Arial"/>
                <a:cs typeface="Arial"/>
              </a:defRPr>
            </a:pPr>
            <a:r>
              <a:rPr sz="2775" b="1">
                <a:solidFill>
                  <a:srgbClr val="151715"/>
                </a:solidFill>
                <a:latin typeface="Arial"/>
                <a:ea typeface="Arial"/>
                <a:cs typeface="Arial"/>
              </a:rPr>
              <a:t>Business Wiki at the core of an open knowledge architecture</a:t>
            </a:r>
          </a:p>
        </p:txBody>
      </p:sp>
      <p:sp>
        <p:nvSpPr>
          <p:cNvPr id="2" name="Daiichi Sankyo curates knowledge with AI support. Peopl">
            <a:extLst xmlns:a="http://schemas.openxmlformats.org/drawingml/2006/main">
              <a:ext uri="{FF2B5EF4-FFF2-40B4-BE49-F238E27FC236}">
                <a16:creationId xmlns:a16="http://schemas.microsoft.com/office/drawing/2014/main" id="{3CDA748F-9160-40D2-8C9B-9FC092CB366F}"/>
              </a:ext>
            </a:extLst>
          </p:cNvPr>
          <p:cNvSpPr>
            <a:spLocks xmlns:a="http://schemas.openxmlformats.org/drawingml/2006/main" noGrp="1"/>
          </p:cNvSpPr>
          <p:nvPr/>
        </p:nvSpPr>
        <p:spPr>
          <a:xfrm xmlns:a="http://schemas.openxmlformats.org/drawingml/2006/main">
            <a:off x="457200" y="8667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55C56"/>
                </a:solidFill>
                <a:latin typeface="Arial"/>
                <a:ea typeface="Arial"/>
                <a:cs typeface="Arial"/>
              </a:defRPr>
            </a:pPr>
            <a:r>
              <a:rPr sz="1575" b="0">
                <a:solidFill>
                  <a:srgbClr val="555C56"/>
                </a:solidFill>
                <a:latin typeface="Arial"/>
                <a:ea typeface="Arial"/>
                <a:cs typeface="Arial"/>
              </a:rPr>
              <a:t>Daiichi Sankyo curates knowledge with AI support. People and agents use the same approved content.</a:t>
            </a:r>
          </a:p>
        </p:txBody>
      </p:sp>
      <p:sp>
        <p:nvSpPr>
          <p:cNvPr id="3" name="SharePoint or pilot files">
            <a:extLst xmlns:a="http://schemas.openxmlformats.org/drawingml/2006/main">
              <a:ext uri="{FF2B5EF4-FFF2-40B4-BE49-F238E27FC236}">
                <a16:creationId xmlns:a16="http://schemas.microsoft.com/office/drawing/2014/main" id="{A11752DE-F6EE-41C6-9142-313E13F846DB}"/>
              </a:ext>
            </a:extLst>
          </p:cNvPr>
          <p:cNvSpPr>
            <a:spLocks xmlns:a="http://schemas.openxmlformats.org/drawingml/2006/main" noGrp="1"/>
          </p:cNvSpPr>
          <p:nvPr/>
        </p:nvSpPr>
        <p:spPr>
          <a:xfrm xmlns:a="http://schemas.openxmlformats.org/drawingml/2006/main">
            <a:off x="457200" y="1400175"/>
            <a:ext cx="2114550" cy="857250"/>
          </a:xfrm>
          <a:prstGeom xmlns:a="http://schemas.openxmlformats.org/drawingml/2006/main" prst="rect">
            <a:avLst/>
          </a:prstGeom>
          <a:solidFill xmlns:a="http://schemas.openxmlformats.org/drawingml/2006/main">
            <a:srgbClr val="F4F5F2"/>
          </a:solidFill>
          <a:ln xmlns:a="http://schemas.openxmlformats.org/drawingml/2006/main" w="9525">
            <a:solidFill>
              <a:srgbClr val="D7DDD2"/>
            </a:solidFill>
            <a:prstDash val="solid"/>
          </a:ln>
        </p:spPr>
      </p:sp>
      <p:sp>
        <p:nvSpPr>
          <p:cNvPr id="4" name="SharePoint">
            <a:extLst xmlns:a="http://schemas.openxmlformats.org/drawingml/2006/main">
              <a:ext uri="{FF2B5EF4-FFF2-40B4-BE49-F238E27FC236}">
                <a16:creationId xmlns:a16="http://schemas.microsoft.com/office/drawing/2014/main" id="{FF21C264-7CD8-4B77-BA84-134C2FB964CD}"/>
              </a:ext>
            </a:extLst>
          </p:cNvPr>
          <p:cNvSpPr>
            <a:spLocks xmlns:a="http://schemas.openxmlformats.org/drawingml/2006/main" noGrp="1"/>
          </p:cNvSpPr>
          <p:nvPr/>
        </p:nvSpPr>
        <p:spPr>
          <a:xfrm xmlns:a="http://schemas.openxmlformats.org/drawingml/2006/main">
            <a:off x="619125" y="1543050"/>
            <a:ext cx="1790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5"/>
                </a:solidFill>
                <a:latin typeface="Arial"/>
                <a:ea typeface="Arial"/>
                <a:cs typeface="Arial"/>
              </a:defRPr>
            </a:pPr>
            <a:r>
              <a:rPr sz="1875" b="1">
                <a:solidFill>
                  <a:srgbClr val="151715"/>
                </a:solidFill>
                <a:latin typeface="Arial"/>
                <a:ea typeface="Arial"/>
                <a:cs typeface="Arial"/>
              </a:rPr>
              <a:t>SharePoint</a:t>
            </a:r>
          </a:p>
        </p:txBody>
      </p:sp>
      <p:sp>
        <p:nvSpPr>
          <p:cNvPr id="5" name="or pilot files">
            <a:extLst xmlns:a="http://schemas.openxmlformats.org/drawingml/2006/main">
              <a:ext uri="{FF2B5EF4-FFF2-40B4-BE49-F238E27FC236}">
                <a16:creationId xmlns:a16="http://schemas.microsoft.com/office/drawing/2014/main" id="{D7690855-DA95-40FC-852E-BDCD3F682A85}"/>
              </a:ext>
            </a:extLst>
          </p:cNvPr>
          <p:cNvSpPr>
            <a:spLocks xmlns:a="http://schemas.openxmlformats.org/drawingml/2006/main" noGrp="1"/>
          </p:cNvSpPr>
          <p:nvPr/>
        </p:nvSpPr>
        <p:spPr>
          <a:xfrm xmlns:a="http://schemas.openxmlformats.org/drawingml/2006/main">
            <a:off x="619125" y="1924050"/>
            <a:ext cx="1790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55C56"/>
                </a:solidFill>
                <a:latin typeface="Arial"/>
                <a:ea typeface="Arial"/>
                <a:cs typeface="Arial"/>
              </a:defRPr>
            </a:pPr>
            <a:r>
              <a:rPr sz="1425" b="0">
                <a:solidFill>
                  <a:srgbClr val="555C56"/>
                </a:solidFill>
                <a:latin typeface="Arial"/>
                <a:ea typeface="Arial"/>
                <a:cs typeface="Arial"/>
              </a:rPr>
              <a:t>or pilot files</a:t>
            </a:r>
          </a:p>
        </p:txBody>
      </p:sp>
      <p:sp>
        <p:nvSpPr>
          <p:cNvPr id="6" name="Microsoft Graph and Docling">
            <a:extLst xmlns:a="http://schemas.openxmlformats.org/drawingml/2006/main">
              <a:ext uri="{FF2B5EF4-FFF2-40B4-BE49-F238E27FC236}">
                <a16:creationId xmlns:a16="http://schemas.microsoft.com/office/drawing/2014/main" id="{9CD05C76-1384-4830-86C2-DC070ADE1C44}"/>
              </a:ext>
            </a:extLst>
          </p:cNvPr>
          <p:cNvSpPr>
            <a:spLocks xmlns:a="http://schemas.openxmlformats.org/drawingml/2006/main" noGrp="1"/>
          </p:cNvSpPr>
          <p:nvPr/>
        </p:nvSpPr>
        <p:spPr>
          <a:xfrm xmlns:a="http://schemas.openxmlformats.org/drawingml/2006/main">
            <a:off x="2962275" y="1400175"/>
            <a:ext cx="2933700" cy="857250"/>
          </a:xfrm>
          <a:prstGeom xmlns:a="http://schemas.openxmlformats.org/drawingml/2006/main" prst="rect">
            <a:avLst/>
          </a:prstGeom>
          <a:solidFill xmlns:a="http://schemas.openxmlformats.org/drawingml/2006/main">
            <a:srgbClr val="F4F5F2"/>
          </a:solidFill>
          <a:ln xmlns:a="http://schemas.openxmlformats.org/drawingml/2006/main" w="9525">
            <a:solidFill>
              <a:srgbClr val="D7DDD2"/>
            </a:solidFill>
            <a:prstDash val="solid"/>
          </a:ln>
        </p:spPr>
      </p:sp>
      <p:sp>
        <p:nvSpPr>
          <p:cNvPr id="7" name="Microsoft Graph">
            <a:extLst xmlns:a="http://schemas.openxmlformats.org/drawingml/2006/main">
              <a:ext uri="{FF2B5EF4-FFF2-40B4-BE49-F238E27FC236}">
                <a16:creationId xmlns:a16="http://schemas.microsoft.com/office/drawing/2014/main" id="{830023E8-D40A-4949-B081-36116871E589}"/>
              </a:ext>
            </a:extLst>
          </p:cNvPr>
          <p:cNvSpPr>
            <a:spLocks xmlns:a="http://schemas.openxmlformats.org/drawingml/2006/main" noGrp="1"/>
          </p:cNvSpPr>
          <p:nvPr/>
        </p:nvSpPr>
        <p:spPr>
          <a:xfrm xmlns:a="http://schemas.openxmlformats.org/drawingml/2006/main">
            <a:off x="3133725" y="1543050"/>
            <a:ext cx="2600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5"/>
                </a:solidFill>
                <a:latin typeface="Arial"/>
                <a:ea typeface="Arial"/>
                <a:cs typeface="Arial"/>
              </a:defRPr>
            </a:pPr>
            <a:r>
              <a:rPr sz="1875" b="1">
                <a:solidFill>
                  <a:srgbClr val="151715"/>
                </a:solidFill>
                <a:latin typeface="Arial"/>
                <a:ea typeface="Arial"/>
                <a:cs typeface="Arial"/>
              </a:rPr>
              <a:t>Microsoft Graph</a:t>
            </a:r>
          </a:p>
        </p:txBody>
      </p:sp>
      <p:sp>
        <p:nvSpPr>
          <p:cNvPr id="8" name="Docling for PDF and Office">
            <a:extLst xmlns:a="http://schemas.openxmlformats.org/drawingml/2006/main">
              <a:ext uri="{FF2B5EF4-FFF2-40B4-BE49-F238E27FC236}">
                <a16:creationId xmlns:a16="http://schemas.microsoft.com/office/drawing/2014/main" id="{313C82AE-D87B-4BAF-B526-6A724DBC6F72}"/>
              </a:ext>
            </a:extLst>
          </p:cNvPr>
          <p:cNvSpPr>
            <a:spLocks xmlns:a="http://schemas.openxmlformats.org/drawingml/2006/main" noGrp="1"/>
          </p:cNvSpPr>
          <p:nvPr/>
        </p:nvSpPr>
        <p:spPr>
          <a:xfrm xmlns:a="http://schemas.openxmlformats.org/drawingml/2006/main">
            <a:off x="3133725" y="1914525"/>
            <a:ext cx="26003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55C56"/>
                </a:solidFill>
                <a:latin typeface="Arial"/>
                <a:ea typeface="Arial"/>
                <a:cs typeface="Arial"/>
              </a:defRPr>
            </a:pPr>
            <a:r>
              <a:rPr sz="1425" b="0">
                <a:solidFill>
                  <a:srgbClr val="555C56"/>
                </a:solidFill>
                <a:latin typeface="Arial"/>
                <a:ea typeface="Arial"/>
                <a:cs typeface="Arial"/>
              </a:rPr>
              <a:t>Docling for PDF and Office</a:t>
            </a:r>
          </a:p>
        </p:txBody>
      </p:sp>
      <p:sp>
        <p:nvSpPr>
          <p:cNvPr id="9" name="Versioned source pages">
            <a:extLst xmlns:a="http://schemas.openxmlformats.org/drawingml/2006/main">
              <a:ext uri="{FF2B5EF4-FFF2-40B4-BE49-F238E27FC236}">
                <a16:creationId xmlns:a16="http://schemas.microsoft.com/office/drawing/2014/main" id="{B91AC9C6-C7A4-4B60-9F88-01C1C14D3B9A}"/>
              </a:ext>
            </a:extLst>
          </p:cNvPr>
          <p:cNvSpPr>
            <a:spLocks xmlns:a="http://schemas.openxmlformats.org/drawingml/2006/main" noGrp="1"/>
          </p:cNvSpPr>
          <p:nvPr/>
        </p:nvSpPr>
        <p:spPr>
          <a:xfrm xmlns:a="http://schemas.openxmlformats.org/drawingml/2006/main">
            <a:off x="6296025" y="1400175"/>
            <a:ext cx="5438775" cy="857250"/>
          </a:xfrm>
          <a:prstGeom xmlns:a="http://schemas.openxmlformats.org/drawingml/2006/main" prst="rect">
            <a:avLst/>
          </a:prstGeom>
          <a:solidFill xmlns:a="http://schemas.openxmlformats.org/drawingml/2006/main">
            <a:srgbClr val="F0F6E8"/>
          </a:solidFill>
          <a:ln xmlns:a="http://schemas.openxmlformats.org/drawingml/2006/main" w="14288">
            <a:solidFill>
              <a:srgbClr val="86BC25"/>
            </a:solidFill>
            <a:prstDash val="solid"/>
          </a:ln>
        </p:spPr>
      </p:sp>
      <p:sp>
        <p:nvSpPr>
          <p:cNvPr id="10" name="Source pages in Git">
            <a:extLst xmlns:a="http://schemas.openxmlformats.org/drawingml/2006/main">
              <a:ext uri="{FF2B5EF4-FFF2-40B4-BE49-F238E27FC236}">
                <a16:creationId xmlns:a16="http://schemas.microsoft.com/office/drawing/2014/main" id="{848C5169-C5A9-403D-AC1D-A5A56E5FAAE2}"/>
              </a:ext>
            </a:extLst>
          </p:cNvPr>
          <p:cNvSpPr>
            <a:spLocks xmlns:a="http://schemas.openxmlformats.org/drawingml/2006/main" noGrp="1"/>
          </p:cNvSpPr>
          <p:nvPr/>
        </p:nvSpPr>
        <p:spPr>
          <a:xfrm xmlns:a="http://schemas.openxmlformats.org/drawingml/2006/main">
            <a:off x="6477000" y="1524000"/>
            <a:ext cx="5067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5"/>
                </a:solidFill>
                <a:latin typeface="Arial"/>
                <a:ea typeface="Arial"/>
                <a:cs typeface="Arial"/>
              </a:defRPr>
            </a:pPr>
            <a:r>
              <a:rPr sz="1950" b="1">
                <a:solidFill>
                  <a:srgbClr val="151715"/>
                </a:solidFill>
                <a:latin typeface="Arial"/>
                <a:ea typeface="Arial"/>
                <a:cs typeface="Arial"/>
              </a:rPr>
              <a:t>Source pages in Git</a:t>
            </a:r>
          </a:p>
        </p:txBody>
      </p:sp>
      <p:sp>
        <p:nvSpPr>
          <p:cNvPr id="11" name="Markdown + YAML: IDs, revisions, evidence, access right">
            <a:extLst xmlns:a="http://schemas.openxmlformats.org/drawingml/2006/main">
              <a:ext uri="{FF2B5EF4-FFF2-40B4-BE49-F238E27FC236}">
                <a16:creationId xmlns:a16="http://schemas.microsoft.com/office/drawing/2014/main" id="{8E98AED7-798F-4B59-A221-0C9AA1CD87E9}"/>
              </a:ext>
            </a:extLst>
          </p:cNvPr>
          <p:cNvSpPr>
            <a:spLocks xmlns:a="http://schemas.openxmlformats.org/drawingml/2006/main" noGrp="1"/>
          </p:cNvSpPr>
          <p:nvPr/>
        </p:nvSpPr>
        <p:spPr>
          <a:xfrm xmlns:a="http://schemas.openxmlformats.org/drawingml/2006/main">
            <a:off x="6477000" y="1914525"/>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55C56"/>
                </a:solidFill>
                <a:latin typeface="Arial"/>
                <a:ea typeface="Arial"/>
                <a:cs typeface="Arial"/>
              </a:defRPr>
            </a:pPr>
            <a:r>
              <a:rPr sz="1350" b="0">
                <a:solidFill>
                  <a:srgbClr val="555C56"/>
                </a:solidFill>
                <a:latin typeface="Arial"/>
                <a:ea typeface="Arial"/>
                <a:cs typeface="Arial"/>
              </a:rPr>
              <a:t>Markdown + YAML: IDs, revisions, evidence, access rights</a:t>
            </a:r>
          </a:p>
        </p:txBody>
      </p:sp>
      <p:cxnSp>
        <p:nvCxnSpPr>
          <p:cNvPr id="72" name=""/>
          <p:cNvCxnSpPr>
            <a:stCxn xmlns:a="http://schemas.openxmlformats.org/drawingml/2006/main" id="3" idx="3"/>
            <a:endCxn xmlns:a="http://schemas.openxmlformats.org/drawingml/2006/main" id="6" idx="1"/>
          </p:cNvCxnSpPr>
          <p:nvPr/>
        </p:nvCxnSpPr>
        <p:spPr>
          <a:xfrm xmlns:a="http://schemas.openxmlformats.org/drawingml/2006/main">
            <a:off x="2571750" y="1828800"/>
            <a:ext cx="390525" cy="0"/>
          </a:xfrm>
          <a:prstGeom xmlns:a="http://schemas.openxmlformats.org/drawingml/2006/main" prst="straightConnector1">
            <a:avLst/>
          </a:prstGeom>
          <a:ln xmlns:a="http://schemas.openxmlformats.org/drawingml/2006/main" w="17145">
            <a:solidFill>
              <a:srgbClr val="555C56"/>
            </a:solidFill>
            <a:prstDash val="solid"/>
            <a:tailEnd type="triangle" w="sm" len="sm"/>
          </a:ln>
        </p:spPr>
      </p:cxnSp>
      <p:cxnSp>
        <p:nvCxnSpPr>
          <p:cNvPr id="73" name=""/>
          <p:cNvCxnSpPr>
            <a:stCxn xmlns:a="http://schemas.openxmlformats.org/drawingml/2006/main" id="6" idx="3"/>
            <a:endCxn xmlns:a="http://schemas.openxmlformats.org/drawingml/2006/main" id="9" idx="1"/>
          </p:cNvCxnSpPr>
          <p:nvPr/>
        </p:nvCxnSpPr>
        <p:spPr>
          <a:xfrm xmlns:a="http://schemas.openxmlformats.org/drawingml/2006/main">
            <a:off x="5895975" y="1828800"/>
            <a:ext cx="400050" cy="0"/>
          </a:xfrm>
          <a:prstGeom xmlns:a="http://schemas.openxmlformats.org/drawingml/2006/main" prst="straightConnector1">
            <a:avLst/>
          </a:prstGeom>
          <a:ln xmlns:a="http://schemas.openxmlformats.org/drawingml/2006/main" w="17145">
            <a:solidFill>
              <a:srgbClr val="555C56"/>
            </a:solidFill>
            <a:prstDash val="solid"/>
            <a:tailEnd type="triangle" w="sm" len="sm"/>
          </a:ln>
        </p:spPr>
      </p:cxnSp>
      <p:sp>
        <p:nvSpPr>
          <p:cNvPr id="14" name="Deloitte Business Wiki">
            <a:extLst xmlns:a="http://schemas.openxmlformats.org/drawingml/2006/main">
              <a:ext uri="{FF2B5EF4-FFF2-40B4-BE49-F238E27FC236}">
                <a16:creationId xmlns:a16="http://schemas.microsoft.com/office/drawing/2014/main" id="{A7CECC16-7C5A-4C08-8E13-AE2B950F808B}"/>
              </a:ext>
            </a:extLst>
          </p:cNvPr>
          <p:cNvSpPr>
            <a:spLocks xmlns:a="http://schemas.openxmlformats.org/drawingml/2006/main" noGrp="1"/>
          </p:cNvSpPr>
          <p:nvPr/>
        </p:nvSpPr>
        <p:spPr>
          <a:xfrm xmlns:a="http://schemas.openxmlformats.org/drawingml/2006/main">
            <a:off x="457200" y="2790825"/>
            <a:ext cx="6905625" cy="2000250"/>
          </a:xfrm>
          <a:prstGeom xmlns:a="http://schemas.openxmlformats.org/drawingml/2006/main" prst="rect">
            <a:avLst/>
          </a:prstGeom>
          <a:solidFill xmlns:a="http://schemas.openxmlformats.org/drawingml/2006/main">
            <a:srgbClr val="FFFFFF"/>
          </a:solidFill>
          <a:ln xmlns:a="http://schemas.openxmlformats.org/drawingml/2006/main" w="19050">
            <a:solidFill>
              <a:srgbClr val="86BC25"/>
            </a:solidFill>
            <a:prstDash val="solid"/>
          </a:ln>
        </p:spPr>
      </p:sp>
      <p:sp>
        <p:nvSpPr>
          <p:cNvPr id="15" name="Business Wiki">
            <a:extLst xmlns:a="http://schemas.openxmlformats.org/drawingml/2006/main">
              <a:ext uri="{FF2B5EF4-FFF2-40B4-BE49-F238E27FC236}">
                <a16:creationId xmlns:a16="http://schemas.microsoft.com/office/drawing/2014/main" id="{77FE6DDC-7778-4FCA-B02E-C5A1B1E7E0CF}"/>
              </a:ext>
            </a:extLst>
          </p:cNvPr>
          <p:cNvSpPr>
            <a:spLocks xmlns:a="http://schemas.openxmlformats.org/drawingml/2006/main" noGrp="1"/>
          </p:cNvSpPr>
          <p:nvPr/>
        </p:nvSpPr>
        <p:spPr>
          <a:xfrm xmlns:a="http://schemas.openxmlformats.org/drawingml/2006/main">
            <a:off x="628650" y="29241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5"/>
                </a:solidFill>
                <a:latin typeface="Arial"/>
                <a:ea typeface="Arial"/>
                <a:cs typeface="Arial"/>
              </a:defRPr>
            </a:pPr>
            <a:r>
              <a:rPr sz="2025" b="1">
                <a:solidFill>
                  <a:srgbClr val="151715"/>
                </a:solidFill>
                <a:latin typeface="Arial"/>
                <a:ea typeface="Arial"/>
                <a:cs typeface="Arial"/>
              </a:rPr>
              <a:t>Business Wiki</a:t>
            </a:r>
          </a:p>
        </p:txBody>
      </p:sp>
      <p:sp>
        <p:nvSpPr>
          <p:cNvPr id="16" name="Deloitte">
            <a:extLst xmlns:a="http://schemas.openxmlformats.org/drawingml/2006/main">
              <a:ext uri="{FF2B5EF4-FFF2-40B4-BE49-F238E27FC236}">
                <a16:creationId xmlns:a16="http://schemas.microsoft.com/office/drawing/2014/main" id="{C16E3564-C5E8-47E5-87C5-4746AB850C73}"/>
              </a:ext>
            </a:extLst>
          </p:cNvPr>
          <p:cNvSpPr>
            <a:spLocks xmlns:a="http://schemas.openxmlformats.org/drawingml/2006/main" noGrp="1"/>
          </p:cNvSpPr>
          <p:nvPr/>
        </p:nvSpPr>
        <p:spPr>
          <a:xfrm xmlns:a="http://schemas.openxmlformats.org/drawingml/2006/main">
            <a:off x="5838825" y="2962275"/>
            <a:ext cx="1343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1">
                <a:solidFill>
                  <a:srgbClr val="426B12"/>
                </a:solidFill>
                <a:latin typeface="Arial"/>
                <a:ea typeface="Arial"/>
                <a:cs typeface="Arial"/>
              </a:defRPr>
            </a:pPr>
            <a:r>
              <a:rPr sz="1425" b="1">
                <a:solidFill>
                  <a:srgbClr val="426B12"/>
                </a:solidFill>
                <a:latin typeface="Arial"/>
                <a:ea typeface="Arial"/>
                <a:cs typeface="Arial"/>
              </a:rPr>
              <a:t>Deloitte</a:t>
            </a:r>
          </a:p>
        </p:txBody>
      </p:sp>
      <p:sp>
        <p:nvSpPr>
          <p:cNvPr id="17" name="Source pages and approved curated pages">
            <a:extLst xmlns:a="http://schemas.openxmlformats.org/drawingml/2006/main">
              <a:ext uri="{FF2B5EF4-FFF2-40B4-BE49-F238E27FC236}">
                <a16:creationId xmlns:a16="http://schemas.microsoft.com/office/drawing/2014/main" id="{F88F016A-F81F-4912-BA42-5EE3FA2A6726}"/>
              </a:ext>
            </a:extLst>
          </p:cNvPr>
          <p:cNvSpPr>
            <a:spLocks xmlns:a="http://schemas.openxmlformats.org/drawingml/2006/main" noGrp="1"/>
          </p:cNvSpPr>
          <p:nvPr/>
        </p:nvSpPr>
        <p:spPr>
          <a:xfrm xmlns:a="http://schemas.openxmlformats.org/drawingml/2006/main">
            <a:off x="628650" y="3276600"/>
            <a:ext cx="6505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55C56"/>
                </a:solidFill>
                <a:latin typeface="Arial"/>
                <a:ea typeface="Arial"/>
                <a:cs typeface="Arial"/>
              </a:defRPr>
            </a:pPr>
            <a:r>
              <a:rPr sz="1575" b="0">
                <a:solidFill>
                  <a:srgbClr val="555C56"/>
                </a:solidFill>
                <a:latin typeface="Arial"/>
                <a:ea typeface="Arial"/>
                <a:cs typeface="Arial"/>
              </a:rPr>
              <a:t>Source pages and approved curated pages</a:t>
            </a:r>
          </a:p>
        </p:txBody>
      </p:sp>
      <p:sp>
        <p:nvSpPr>
          <p:cNvPr id="18" name="">
            <a:extLst xmlns:a="http://schemas.openxmlformats.org/drawingml/2006/main">
              <a:ext uri="{FF2B5EF4-FFF2-40B4-BE49-F238E27FC236}">
                <a16:creationId xmlns:a16="http://schemas.microsoft.com/office/drawing/2014/main" id="{DD3487B6-6750-4462-BB38-B07671C6BFB9}"/>
              </a:ext>
            </a:extLst>
          </p:cNvPr>
          <p:cNvSpPr>
            <a:spLocks xmlns:a="http://schemas.openxmlformats.org/drawingml/2006/main" noGrp="1"/>
          </p:cNvSpPr>
          <p:nvPr/>
        </p:nvSpPr>
        <p:spPr>
          <a:xfrm xmlns:a="http://schemas.openxmlformats.org/drawingml/2006/main">
            <a:off x="628650" y="3629025"/>
            <a:ext cx="6562725" cy="0"/>
          </a:xfrm>
          <a:prstGeom xmlns:a="http://schemas.openxmlformats.org/drawingml/2006/main" prst="line">
            <a:avLst/>
          </a:prstGeom>
          <a:noFill xmlns:a="http://schemas.openxmlformats.org/drawingml/2006/main"/>
          <a:ln xmlns:a="http://schemas.openxmlformats.org/drawingml/2006/main" w="9525">
            <a:solidFill>
              <a:srgbClr val="D7DDD2"/>
            </a:solidFill>
          </a:ln>
        </p:spPr>
      </p:sp>
      <p:sp>
        <p:nvSpPr>
          <p:cNvPr id="19" name="Create and maintain drafts">
            <a:extLst xmlns:a="http://schemas.openxmlformats.org/drawingml/2006/main">
              <a:ext uri="{FF2B5EF4-FFF2-40B4-BE49-F238E27FC236}">
                <a16:creationId xmlns:a16="http://schemas.microsoft.com/office/drawing/2014/main" id="{CCF41325-1F4F-405E-A6BF-11A29B49DF54}"/>
              </a:ext>
            </a:extLst>
          </p:cNvPr>
          <p:cNvSpPr>
            <a:spLocks xmlns:a="http://schemas.openxmlformats.org/drawingml/2006/main" noGrp="1"/>
          </p:cNvSpPr>
          <p:nvPr/>
        </p:nvSpPr>
        <p:spPr>
          <a:xfrm xmlns:a="http://schemas.openxmlformats.org/drawingml/2006/main">
            <a:off x="628650" y="3781425"/>
            <a:ext cx="1990725" cy="695325"/>
          </a:xfrm>
          <a:prstGeom xmlns:a="http://schemas.openxmlformats.org/drawingml/2006/main" prst="rect">
            <a:avLst/>
          </a:prstGeom>
          <a:noFill xmlns:a="http://schemas.openxmlformats.org/drawingml/2006/main"/>
          <a:ln xmlns:a="http://schemas.openxmlformats.org/drawingml/2006/main" w="0">
            <a:noFill/>
            <a:prstDash val="solid"/>
          </a:ln>
        </p:spPr>
      </p:sp>
      <p:sp>
        <p:nvSpPr>
          <p:cNvPr id="20" name="Create &amp; maintain">
            <a:extLst xmlns:a="http://schemas.openxmlformats.org/drawingml/2006/main">
              <a:ext uri="{FF2B5EF4-FFF2-40B4-BE49-F238E27FC236}">
                <a16:creationId xmlns:a16="http://schemas.microsoft.com/office/drawing/2014/main" id="{5A6F0E28-8AC6-4034-8168-7B460A8F9261}"/>
              </a:ext>
            </a:extLst>
          </p:cNvPr>
          <p:cNvSpPr>
            <a:spLocks xmlns:a="http://schemas.openxmlformats.org/drawingml/2006/main" noGrp="1"/>
          </p:cNvSpPr>
          <p:nvPr/>
        </p:nvSpPr>
        <p:spPr>
          <a:xfrm xmlns:a="http://schemas.openxmlformats.org/drawingml/2006/main">
            <a:off x="628650" y="3781425"/>
            <a:ext cx="1990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38" b="1">
                <a:solidFill>
                  <a:srgbClr val="151715"/>
                </a:solidFill>
                <a:latin typeface="Arial"/>
                <a:ea typeface="Arial"/>
                <a:cs typeface="Arial"/>
              </a:defRPr>
            </a:pPr>
            <a:r>
              <a:rPr sz="1538" b="1">
                <a:solidFill>
                  <a:srgbClr val="151715"/>
                </a:solidFill>
                <a:latin typeface="Arial"/>
                <a:ea typeface="Arial"/>
                <a:cs typeface="Arial"/>
              </a:rPr>
              <a:t>Create &amp; maintain</a:t>
            </a:r>
          </a:p>
        </p:txBody>
      </p:sp>
      <p:sp>
        <p:nvSpPr>
          <p:cNvPr id="21" name="Python + local LLM">
            <a:extLst xmlns:a="http://schemas.openxmlformats.org/drawingml/2006/main">
              <a:ext uri="{FF2B5EF4-FFF2-40B4-BE49-F238E27FC236}">
                <a16:creationId xmlns:a16="http://schemas.microsoft.com/office/drawing/2014/main" id="{2C2DEA68-D79C-48E8-81ED-16017F3596CA}"/>
              </a:ext>
            </a:extLst>
          </p:cNvPr>
          <p:cNvSpPr>
            <a:spLocks xmlns:a="http://schemas.openxmlformats.org/drawingml/2006/main" noGrp="1"/>
          </p:cNvSpPr>
          <p:nvPr/>
        </p:nvSpPr>
        <p:spPr>
          <a:xfrm xmlns:a="http://schemas.openxmlformats.org/drawingml/2006/main">
            <a:off x="628650" y="4086225"/>
            <a:ext cx="19907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8" b="0">
                <a:solidFill>
                  <a:srgbClr val="151715"/>
                </a:solidFill>
                <a:latin typeface="Arial"/>
                <a:ea typeface="Arial"/>
                <a:cs typeface="Arial"/>
              </a:defRPr>
            </a:pPr>
            <a:r>
              <a:rPr sz="1388" b="0">
                <a:solidFill>
                  <a:srgbClr val="151715"/>
                </a:solidFill>
                <a:latin typeface="Arial"/>
                <a:ea typeface="Arial"/>
                <a:cs typeface="Arial"/>
              </a:rPr>
              <a:t>Python + local LLM</a:t>
            </a:r>
          </a:p>
        </p:txBody>
      </p:sp>
      <p:sp>
        <p:nvSpPr>
          <p:cNvPr id="22" name="Connect sources">
            <a:extLst xmlns:a="http://schemas.openxmlformats.org/drawingml/2006/main">
              <a:ext uri="{FF2B5EF4-FFF2-40B4-BE49-F238E27FC236}">
                <a16:creationId xmlns:a16="http://schemas.microsoft.com/office/drawing/2014/main" id="{DF880F10-CE6C-4ACD-A883-FECBD5F49328}"/>
              </a:ext>
            </a:extLst>
          </p:cNvPr>
          <p:cNvSpPr>
            <a:spLocks xmlns:a="http://schemas.openxmlformats.org/drawingml/2006/main" noGrp="1"/>
          </p:cNvSpPr>
          <p:nvPr/>
        </p:nvSpPr>
        <p:spPr>
          <a:xfrm xmlns:a="http://schemas.openxmlformats.org/drawingml/2006/main">
            <a:off x="628650" y="4333875"/>
            <a:ext cx="1990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55C56"/>
                </a:solidFill>
                <a:latin typeface="Arial"/>
                <a:ea typeface="Arial"/>
                <a:cs typeface="Arial"/>
              </a:defRPr>
            </a:pPr>
            <a:r>
              <a:rPr sz="1350" b="0">
                <a:solidFill>
                  <a:srgbClr val="555C56"/>
                </a:solidFill>
                <a:latin typeface="Arial"/>
                <a:ea typeface="Arial"/>
                <a:cs typeface="Arial"/>
              </a:rPr>
              <a:t>Connect sources</a:t>
            </a:r>
          </a:p>
        </p:txBody>
      </p:sp>
      <p:sp>
        <p:nvSpPr>
          <p:cNvPr id="23" name="Domain review and approval">
            <a:extLst xmlns:a="http://schemas.openxmlformats.org/drawingml/2006/main">
              <a:ext uri="{FF2B5EF4-FFF2-40B4-BE49-F238E27FC236}">
                <a16:creationId xmlns:a16="http://schemas.microsoft.com/office/drawing/2014/main" id="{D59D1FFB-FBFA-46B7-9D04-B99D29D0AF47}"/>
              </a:ext>
            </a:extLst>
          </p:cNvPr>
          <p:cNvSpPr>
            <a:spLocks xmlns:a="http://schemas.openxmlformats.org/drawingml/2006/main" noGrp="1"/>
          </p:cNvSpPr>
          <p:nvPr/>
        </p:nvSpPr>
        <p:spPr>
          <a:xfrm xmlns:a="http://schemas.openxmlformats.org/drawingml/2006/main">
            <a:off x="2962275" y="3781425"/>
            <a:ext cx="1714500" cy="695325"/>
          </a:xfrm>
          <a:prstGeom xmlns:a="http://schemas.openxmlformats.org/drawingml/2006/main" prst="rect">
            <a:avLst/>
          </a:prstGeom>
          <a:noFill xmlns:a="http://schemas.openxmlformats.org/drawingml/2006/main"/>
          <a:ln xmlns:a="http://schemas.openxmlformats.org/drawingml/2006/main" w="0">
            <a:noFill/>
            <a:prstDash val="solid"/>
          </a:ln>
        </p:spPr>
      </p:sp>
      <p:sp>
        <p:nvSpPr>
          <p:cNvPr id="24" name="Domain review">
            <a:extLst xmlns:a="http://schemas.openxmlformats.org/drawingml/2006/main">
              <a:ext uri="{FF2B5EF4-FFF2-40B4-BE49-F238E27FC236}">
                <a16:creationId xmlns:a16="http://schemas.microsoft.com/office/drawing/2014/main" id="{35AC92B1-F875-4839-AC98-D0FA6CD29C8E}"/>
              </a:ext>
            </a:extLst>
          </p:cNvPr>
          <p:cNvSpPr>
            <a:spLocks xmlns:a="http://schemas.openxmlformats.org/drawingml/2006/main" noGrp="1"/>
          </p:cNvSpPr>
          <p:nvPr/>
        </p:nvSpPr>
        <p:spPr>
          <a:xfrm xmlns:a="http://schemas.openxmlformats.org/drawingml/2006/main">
            <a:off x="3028950" y="3781425"/>
            <a:ext cx="1647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38" b="1">
                <a:solidFill>
                  <a:srgbClr val="151715"/>
                </a:solidFill>
                <a:latin typeface="Arial"/>
                <a:ea typeface="Arial"/>
                <a:cs typeface="Arial"/>
              </a:defRPr>
            </a:pPr>
            <a:r>
              <a:rPr sz="1538" b="1">
                <a:solidFill>
                  <a:srgbClr val="151715"/>
                </a:solidFill>
                <a:latin typeface="Arial"/>
                <a:ea typeface="Arial"/>
                <a:cs typeface="Arial"/>
              </a:rPr>
              <a:t>Domain review</a:t>
            </a:r>
          </a:p>
        </p:txBody>
      </p:sp>
      <p:sp>
        <p:nvSpPr>
          <p:cNvPr id="25" name="Daiichi Sankyo">
            <a:extLst xmlns:a="http://schemas.openxmlformats.org/drawingml/2006/main">
              <a:ext uri="{FF2B5EF4-FFF2-40B4-BE49-F238E27FC236}">
                <a16:creationId xmlns:a16="http://schemas.microsoft.com/office/drawing/2014/main" id="{539808DA-09EB-434F-A711-DFAF3B323D5B}"/>
              </a:ext>
            </a:extLst>
          </p:cNvPr>
          <p:cNvSpPr>
            <a:spLocks xmlns:a="http://schemas.openxmlformats.org/drawingml/2006/main" noGrp="1"/>
          </p:cNvSpPr>
          <p:nvPr/>
        </p:nvSpPr>
        <p:spPr>
          <a:xfrm xmlns:a="http://schemas.openxmlformats.org/drawingml/2006/main">
            <a:off x="3028950" y="4086225"/>
            <a:ext cx="16478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8" b="0">
                <a:solidFill>
                  <a:srgbClr val="151715"/>
                </a:solidFill>
                <a:latin typeface="Arial"/>
                <a:ea typeface="Arial"/>
                <a:cs typeface="Arial"/>
              </a:defRPr>
            </a:pPr>
            <a:r>
              <a:rPr sz="1388" b="0">
                <a:solidFill>
                  <a:srgbClr val="151715"/>
                </a:solidFill>
                <a:latin typeface="Arial"/>
                <a:ea typeface="Arial"/>
                <a:cs typeface="Arial"/>
              </a:rPr>
              <a:t>Daiichi Sankyo</a:t>
            </a:r>
          </a:p>
        </p:txBody>
      </p:sp>
      <p:sp>
        <p:nvSpPr>
          <p:cNvPr id="26" name="Sign-off with evidence">
            <a:extLst xmlns:a="http://schemas.openxmlformats.org/drawingml/2006/main">
              <a:ext uri="{FF2B5EF4-FFF2-40B4-BE49-F238E27FC236}">
                <a16:creationId xmlns:a16="http://schemas.microsoft.com/office/drawing/2014/main" id="{C1AB0AA8-243E-47A6-AC64-50257B8A679B}"/>
              </a:ext>
            </a:extLst>
          </p:cNvPr>
          <p:cNvSpPr>
            <a:spLocks xmlns:a="http://schemas.openxmlformats.org/drawingml/2006/main" noGrp="1"/>
          </p:cNvSpPr>
          <p:nvPr/>
        </p:nvSpPr>
        <p:spPr>
          <a:xfrm xmlns:a="http://schemas.openxmlformats.org/drawingml/2006/main">
            <a:off x="3028950" y="4333875"/>
            <a:ext cx="1647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13" b="0">
                <a:solidFill>
                  <a:srgbClr val="555C56"/>
                </a:solidFill>
                <a:latin typeface="Arial"/>
                <a:ea typeface="Arial"/>
                <a:cs typeface="Arial"/>
              </a:defRPr>
            </a:pPr>
            <a:r>
              <a:rPr sz="1313" b="0">
                <a:solidFill>
                  <a:srgbClr val="555C56"/>
                </a:solidFill>
                <a:latin typeface="Arial"/>
                <a:ea typeface="Arial"/>
                <a:cs typeface="Arial"/>
              </a:rPr>
              <a:t>Sign-off with evidence</a:t>
            </a:r>
          </a:p>
        </p:txBody>
      </p:sp>
      <p:sp>
        <p:nvSpPr>
          <p:cNvPr id="27" name="Publish wiki">
            <a:extLst xmlns:a="http://schemas.openxmlformats.org/drawingml/2006/main">
              <a:ext uri="{FF2B5EF4-FFF2-40B4-BE49-F238E27FC236}">
                <a16:creationId xmlns:a16="http://schemas.microsoft.com/office/drawing/2014/main" id="{B06C731B-7F5A-48D7-99D7-6B0E548EA2C5}"/>
              </a:ext>
            </a:extLst>
          </p:cNvPr>
          <p:cNvSpPr>
            <a:spLocks xmlns:a="http://schemas.openxmlformats.org/drawingml/2006/main" noGrp="1"/>
          </p:cNvSpPr>
          <p:nvPr/>
        </p:nvSpPr>
        <p:spPr>
          <a:xfrm xmlns:a="http://schemas.openxmlformats.org/drawingml/2006/main">
            <a:off x="5067300" y="3781425"/>
            <a:ext cx="2124075" cy="695325"/>
          </a:xfrm>
          <a:prstGeom xmlns:a="http://schemas.openxmlformats.org/drawingml/2006/main" prst="rect">
            <a:avLst/>
          </a:prstGeom>
          <a:noFill xmlns:a="http://schemas.openxmlformats.org/drawingml/2006/main"/>
          <a:ln xmlns:a="http://schemas.openxmlformats.org/drawingml/2006/main" w="0">
            <a:noFill/>
            <a:prstDash val="solid"/>
          </a:ln>
        </p:spPr>
      </p:sp>
      <p:sp>
        <p:nvSpPr>
          <p:cNvPr id="28" name="Publish">
            <a:extLst xmlns:a="http://schemas.openxmlformats.org/drawingml/2006/main">
              <a:ext uri="{FF2B5EF4-FFF2-40B4-BE49-F238E27FC236}">
                <a16:creationId xmlns:a16="http://schemas.microsoft.com/office/drawing/2014/main" id="{F5F04EC0-CE13-46BF-849D-625564909245}"/>
              </a:ext>
            </a:extLst>
          </p:cNvPr>
          <p:cNvSpPr>
            <a:spLocks xmlns:a="http://schemas.openxmlformats.org/drawingml/2006/main" noGrp="1"/>
          </p:cNvSpPr>
          <p:nvPr/>
        </p:nvSpPr>
        <p:spPr>
          <a:xfrm xmlns:a="http://schemas.openxmlformats.org/drawingml/2006/main">
            <a:off x="5143500" y="3781425"/>
            <a:ext cx="2047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38" b="1">
                <a:solidFill>
                  <a:srgbClr val="151715"/>
                </a:solidFill>
                <a:latin typeface="Arial"/>
                <a:ea typeface="Arial"/>
                <a:cs typeface="Arial"/>
              </a:defRPr>
            </a:pPr>
            <a:r>
              <a:rPr sz="1538" b="1">
                <a:solidFill>
                  <a:srgbClr val="151715"/>
                </a:solidFill>
                <a:latin typeface="Arial"/>
                <a:ea typeface="Arial"/>
                <a:cs typeface="Arial"/>
              </a:rPr>
              <a:t>Publish</a:t>
            </a:r>
          </a:p>
        </p:txBody>
      </p:sp>
      <p:sp>
        <p:nvSpPr>
          <p:cNvPr id="29" name="Git + Markdown">
            <a:extLst xmlns:a="http://schemas.openxmlformats.org/drawingml/2006/main">
              <a:ext uri="{FF2B5EF4-FFF2-40B4-BE49-F238E27FC236}">
                <a16:creationId xmlns:a16="http://schemas.microsoft.com/office/drawing/2014/main" id="{AE4B7064-5336-46A9-BDFF-388895E80D0A}"/>
              </a:ext>
            </a:extLst>
          </p:cNvPr>
          <p:cNvSpPr>
            <a:spLocks xmlns:a="http://schemas.openxmlformats.org/drawingml/2006/main" noGrp="1"/>
          </p:cNvSpPr>
          <p:nvPr/>
        </p:nvSpPr>
        <p:spPr>
          <a:xfrm xmlns:a="http://schemas.openxmlformats.org/drawingml/2006/main">
            <a:off x="5143500" y="4086225"/>
            <a:ext cx="2047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8" b="0">
                <a:solidFill>
                  <a:srgbClr val="151715"/>
                </a:solidFill>
                <a:latin typeface="Arial"/>
                <a:ea typeface="Arial"/>
                <a:cs typeface="Arial"/>
              </a:defRPr>
            </a:pPr>
            <a:r>
              <a:rPr sz="1388" b="0">
                <a:solidFill>
                  <a:srgbClr val="151715"/>
                </a:solidFill>
                <a:latin typeface="Arial"/>
                <a:ea typeface="Arial"/>
                <a:cs typeface="Arial"/>
              </a:rPr>
              <a:t>Git + Markdown</a:t>
            </a:r>
          </a:p>
        </p:txBody>
      </p:sp>
      <p:sp>
        <p:nvSpPr>
          <p:cNvPr id="30" name="Docusaurus + review UI">
            <a:extLst xmlns:a="http://schemas.openxmlformats.org/drawingml/2006/main">
              <a:ext uri="{FF2B5EF4-FFF2-40B4-BE49-F238E27FC236}">
                <a16:creationId xmlns:a16="http://schemas.microsoft.com/office/drawing/2014/main" id="{DF7DB67C-BE68-4A48-8B4C-0CBB77BC16AD}"/>
              </a:ext>
            </a:extLst>
          </p:cNvPr>
          <p:cNvSpPr>
            <a:spLocks xmlns:a="http://schemas.openxmlformats.org/drawingml/2006/main" noGrp="1"/>
          </p:cNvSpPr>
          <p:nvPr/>
        </p:nvSpPr>
        <p:spPr>
          <a:xfrm xmlns:a="http://schemas.openxmlformats.org/drawingml/2006/main">
            <a:off x="5143500" y="4333875"/>
            <a:ext cx="2047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13" b="0">
                <a:solidFill>
                  <a:srgbClr val="555C56"/>
                </a:solidFill>
                <a:latin typeface="Arial"/>
                <a:ea typeface="Arial"/>
                <a:cs typeface="Arial"/>
              </a:defRPr>
            </a:pPr>
            <a:r>
              <a:rPr sz="1313" b="0">
                <a:solidFill>
                  <a:srgbClr val="555C56"/>
                </a:solidFill>
                <a:latin typeface="Arial"/>
                <a:ea typeface="Arial"/>
                <a:cs typeface="Arial"/>
              </a:rPr>
              <a:t>Docusaurus + review UI</a:t>
            </a:r>
          </a:p>
        </p:txBody>
      </p:sp>
      <p:cxnSp>
        <p:nvCxnSpPr>
          <p:cNvPr id="91" name=""/>
          <p:cNvCxnSpPr>
            <a:stCxn xmlns:a="http://schemas.openxmlformats.org/drawingml/2006/main" id="19" idx="3"/>
            <a:endCxn xmlns:a="http://schemas.openxmlformats.org/drawingml/2006/main" id="23" idx="1"/>
          </p:cNvCxnSpPr>
          <p:nvPr/>
        </p:nvCxnSpPr>
        <p:spPr>
          <a:xfrm xmlns:a="http://schemas.openxmlformats.org/drawingml/2006/main">
            <a:off x="2619375" y="4129088"/>
            <a:ext cx="342900" cy="0"/>
          </a:xfrm>
          <a:prstGeom xmlns:a="http://schemas.openxmlformats.org/drawingml/2006/main" prst="straightConnector1">
            <a:avLst/>
          </a:prstGeom>
          <a:ln xmlns:a="http://schemas.openxmlformats.org/drawingml/2006/main" w="17145">
            <a:solidFill>
              <a:srgbClr val="555C56"/>
            </a:solidFill>
            <a:prstDash val="solid"/>
            <a:tailEnd type="triangle" w="sm" len="sm"/>
          </a:ln>
        </p:spPr>
      </p:cxnSp>
      <p:cxnSp>
        <p:nvCxnSpPr>
          <p:cNvPr id="92" name=""/>
          <p:cNvCxnSpPr>
            <a:stCxn xmlns:a="http://schemas.openxmlformats.org/drawingml/2006/main" id="23" idx="3"/>
            <a:endCxn xmlns:a="http://schemas.openxmlformats.org/drawingml/2006/main" id="27" idx="1"/>
          </p:cNvCxnSpPr>
          <p:nvPr/>
        </p:nvCxnSpPr>
        <p:spPr>
          <a:xfrm xmlns:a="http://schemas.openxmlformats.org/drawingml/2006/main">
            <a:off x="4676775" y="4129088"/>
            <a:ext cx="390525" cy="0"/>
          </a:xfrm>
          <a:prstGeom xmlns:a="http://schemas.openxmlformats.org/drawingml/2006/main" prst="straightConnector1">
            <a:avLst/>
          </a:prstGeom>
          <a:ln xmlns:a="http://schemas.openxmlformats.org/drawingml/2006/main" w="17145">
            <a:solidFill>
              <a:srgbClr val="555C56"/>
            </a:solidFill>
            <a:prstDash val="solid"/>
            <a:tailEnd type="triangle" w="sm" len="sm"/>
          </a:ln>
        </p:spPr>
      </p:cxnSp>
      <p:sp>
        <p:nvSpPr>
          <p:cNvPr id="33" name="Optional Graphwise extension">
            <a:extLst xmlns:a="http://schemas.openxmlformats.org/drawingml/2006/main">
              <a:ext uri="{FF2B5EF4-FFF2-40B4-BE49-F238E27FC236}">
                <a16:creationId xmlns:a16="http://schemas.microsoft.com/office/drawing/2014/main" id="{AB1BCA67-B9F3-4490-80C1-A182F5FE5F57}"/>
              </a:ext>
            </a:extLst>
          </p:cNvPr>
          <p:cNvSpPr>
            <a:spLocks xmlns:a="http://schemas.openxmlformats.org/drawingml/2006/main" noGrp="1"/>
          </p:cNvSpPr>
          <p:nvPr/>
        </p:nvSpPr>
        <p:spPr>
          <a:xfrm xmlns:a="http://schemas.openxmlformats.org/drawingml/2006/main">
            <a:off x="8763000" y="2790825"/>
            <a:ext cx="2971800" cy="2000250"/>
          </a:xfrm>
          <a:prstGeom xmlns:a="http://schemas.openxmlformats.org/drawingml/2006/main" prst="rect">
            <a:avLst/>
          </a:prstGeom>
          <a:solidFill xmlns:a="http://schemas.openxmlformats.org/drawingml/2006/main">
            <a:srgbClr val="F4F5F2"/>
          </a:solidFill>
          <a:ln xmlns:a="http://schemas.openxmlformats.org/drawingml/2006/main" w="14288">
            <a:solidFill>
              <a:srgbClr val="555C56"/>
            </a:solidFill>
            <a:prstDash val="dash"/>
          </a:ln>
        </p:spPr>
      </p:sp>
      <p:sp>
        <p:nvSpPr>
          <p:cNvPr id="34" name="OPTIONAL">
            <a:extLst xmlns:a="http://schemas.openxmlformats.org/drawingml/2006/main">
              <a:ext uri="{FF2B5EF4-FFF2-40B4-BE49-F238E27FC236}">
                <a16:creationId xmlns:a16="http://schemas.microsoft.com/office/drawing/2014/main" id="{AEF03835-A777-4079-83DE-5AA8BFF2F664}"/>
              </a:ext>
            </a:extLst>
          </p:cNvPr>
          <p:cNvSpPr>
            <a:spLocks xmlns:a="http://schemas.openxmlformats.org/drawingml/2006/main" noGrp="1"/>
          </p:cNvSpPr>
          <p:nvPr/>
        </p:nvSpPr>
        <p:spPr>
          <a:xfrm xmlns:a="http://schemas.openxmlformats.org/drawingml/2006/main">
            <a:off x="8934450" y="2924175"/>
            <a:ext cx="2609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38" b="1">
                <a:solidFill>
                  <a:srgbClr val="426B12"/>
                </a:solidFill>
                <a:latin typeface="Arial"/>
                <a:ea typeface="Arial"/>
                <a:cs typeface="Arial"/>
              </a:defRPr>
            </a:pPr>
            <a:r>
              <a:rPr sz="1238" b="1">
                <a:solidFill>
                  <a:srgbClr val="426B12"/>
                </a:solidFill>
                <a:latin typeface="Arial"/>
                <a:ea typeface="Arial"/>
                <a:cs typeface="Arial"/>
              </a:rPr>
              <a:t>OPTIONAL</a:t>
            </a:r>
          </a:p>
        </p:txBody>
      </p:sp>
      <p:sp>
        <p:nvSpPr>
          <p:cNvPr id="35" name="Graphwise / GraphDB">
            <a:extLst xmlns:a="http://schemas.openxmlformats.org/drawingml/2006/main">
              <a:ext uri="{FF2B5EF4-FFF2-40B4-BE49-F238E27FC236}">
                <a16:creationId xmlns:a16="http://schemas.microsoft.com/office/drawing/2014/main" id="{0CD88980-C61F-40C8-BF2D-80255FD9BA2F}"/>
              </a:ext>
            </a:extLst>
          </p:cNvPr>
          <p:cNvSpPr>
            <a:spLocks xmlns:a="http://schemas.openxmlformats.org/drawingml/2006/main" noGrp="1"/>
          </p:cNvSpPr>
          <p:nvPr/>
        </p:nvSpPr>
        <p:spPr>
          <a:xfrm xmlns:a="http://schemas.openxmlformats.org/drawingml/2006/main">
            <a:off x="8934450" y="3228975"/>
            <a:ext cx="2609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5"/>
                </a:solidFill>
                <a:latin typeface="Arial"/>
                <a:ea typeface="Arial"/>
                <a:cs typeface="Arial"/>
              </a:defRPr>
            </a:pPr>
            <a:r>
              <a:rPr sz="1950" b="1">
                <a:solidFill>
                  <a:srgbClr val="151715"/>
                </a:solidFill>
                <a:latin typeface="Arial"/>
                <a:ea typeface="Arial"/>
                <a:cs typeface="Arial"/>
              </a:rPr>
              <a:t>Graphwise / GraphDB</a:t>
            </a:r>
          </a:p>
        </p:txBody>
      </p:sp>
      <p:sp>
        <p:nvSpPr>
          <p:cNvPr id="36" name="">
            <a:extLst xmlns:a="http://schemas.openxmlformats.org/drawingml/2006/main">
              <a:ext uri="{FF2B5EF4-FFF2-40B4-BE49-F238E27FC236}">
                <a16:creationId xmlns:a16="http://schemas.microsoft.com/office/drawing/2014/main" id="{BA800203-1BDF-4855-B627-AF867F548026}"/>
              </a:ext>
            </a:extLst>
          </p:cNvPr>
          <p:cNvSpPr>
            <a:spLocks xmlns:a="http://schemas.openxmlformats.org/drawingml/2006/main" noGrp="1"/>
          </p:cNvSpPr>
          <p:nvPr/>
        </p:nvSpPr>
        <p:spPr>
          <a:xfrm xmlns:a="http://schemas.openxmlformats.org/drawingml/2006/main">
            <a:off x="8934450" y="3638550"/>
            <a:ext cx="2619375" cy="0"/>
          </a:xfrm>
          <a:prstGeom xmlns:a="http://schemas.openxmlformats.org/drawingml/2006/main" prst="line">
            <a:avLst/>
          </a:prstGeom>
          <a:noFill xmlns:a="http://schemas.openxmlformats.org/drawingml/2006/main"/>
          <a:ln xmlns:a="http://schemas.openxmlformats.org/drawingml/2006/main" w="9525">
            <a:solidFill>
              <a:srgbClr val="D7DDD2"/>
            </a:solidFill>
          </a:ln>
        </p:spPr>
      </p:sp>
      <p:sp>
        <p:nvSpPr>
          <p:cNvPr id="37" name="Taxonomy and entities&#10;Evidenced relationships&#10;Graph queri">
            <a:extLst xmlns:a="http://schemas.openxmlformats.org/drawingml/2006/main">
              <a:ext uri="{FF2B5EF4-FFF2-40B4-BE49-F238E27FC236}">
                <a16:creationId xmlns:a16="http://schemas.microsoft.com/office/drawing/2014/main" id="{055BA0EE-A8E2-4057-8F20-EF97C3F819C0}"/>
              </a:ext>
            </a:extLst>
          </p:cNvPr>
          <p:cNvSpPr>
            <a:spLocks xmlns:a="http://schemas.openxmlformats.org/drawingml/2006/main" noGrp="1"/>
          </p:cNvSpPr>
          <p:nvPr/>
        </p:nvSpPr>
        <p:spPr>
          <a:xfrm xmlns:a="http://schemas.openxmlformats.org/drawingml/2006/main">
            <a:off x="8934450" y="3790950"/>
            <a:ext cx="2609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51715"/>
                </a:solidFill>
                <a:latin typeface="Arial"/>
                <a:ea typeface="Arial"/>
                <a:cs typeface="Arial"/>
              </a:defRPr>
            </a:pPr>
            <a:r>
              <a:rPr sz="1575" b="0">
                <a:solidFill>
                  <a:srgbClr val="151715"/>
                </a:solidFill>
                <a:latin typeface="Arial"/>
                <a:ea typeface="Arial"/>
                <a:cs typeface="Arial"/>
              </a:rPr>
              <a:t>Taxonomy and entities</a:t>
            </a:r>
          </a:p>
          <a:p xmlns:a="http://schemas.openxmlformats.org/drawingml/2006/main">
            <a:pPr algn="l">
              <a:defRPr sz="1575" b="0">
                <a:solidFill>
                  <a:srgbClr val="151715"/>
                </a:solidFill>
                <a:latin typeface="Arial"/>
                <a:ea typeface="Arial"/>
                <a:cs typeface="Arial"/>
              </a:defRPr>
            </a:pPr>
            <a:r>
              <a:rPr sz="1575" b="0">
                <a:solidFill>
                  <a:srgbClr val="151715"/>
                </a:solidFill>
                <a:latin typeface="Arial"/>
                <a:ea typeface="Arial"/>
                <a:cs typeface="Arial"/>
              </a:rPr>
              <a:t>Evidenced relationships</a:t>
            </a:r>
          </a:p>
          <a:p xmlns:a="http://schemas.openxmlformats.org/drawingml/2006/main">
            <a:pPr algn="l">
              <a:defRPr sz="1575" b="0">
                <a:solidFill>
                  <a:srgbClr val="151715"/>
                </a:solidFill>
                <a:latin typeface="Arial"/>
                <a:ea typeface="Arial"/>
                <a:cs typeface="Arial"/>
              </a:defRPr>
            </a:pPr>
            <a:r>
              <a:rPr sz="1575" b="0">
                <a:solidFill>
                  <a:srgbClr val="151715"/>
                </a:solidFill>
                <a:latin typeface="Arial"/>
                <a:ea typeface="Arial"/>
                <a:cs typeface="Arial"/>
              </a:rPr>
              <a:t>Graph queries with context</a:t>
            </a:r>
          </a:p>
        </p:txBody>
      </p:sp>
      <p:cxnSp>
        <p:nvCxnSpPr>
          <p:cNvPr id="98" name=""/>
          <p:cNvCxnSpPr>
            <a:stCxn xmlns:a="http://schemas.openxmlformats.org/drawingml/2006/main" id="9" idx="2"/>
            <a:endCxn xmlns:a="http://schemas.openxmlformats.org/drawingml/2006/main" id="14" idx="0"/>
          </p:cNvCxnSpPr>
          <p:nvPr/>
        </p:nvCxnSpPr>
        <p:spPr>
          <a:xfrm xmlns:a="http://schemas.openxmlformats.org/drawingml/2006/main" flipH="1">
            <a:off x="3910013" y="2257425"/>
            <a:ext cx="5105400" cy="533400"/>
          </a:xfrm>
          <a:prstGeom xmlns:a="http://schemas.openxmlformats.org/drawingml/2006/main" prst="bentConnector4">
            <a:avLst>
              <a:gd name="adj1" fmla="val 0"/>
              <a:gd name="adj2" fmla="val 50000"/>
            </a:avLst>
          </a:prstGeom>
          <a:ln xmlns:a="http://schemas.openxmlformats.org/drawingml/2006/main" w="17145">
            <a:solidFill>
              <a:srgbClr val="555C56"/>
            </a:solidFill>
            <a:prstDash val="solid"/>
            <a:tailEnd type="triangle" w="sm" len="sm"/>
          </a:ln>
        </p:spPr>
      </p:cxnSp>
      <p:cxnSp>
        <p:nvCxnSpPr>
          <p:cNvPr id="99" name=""/>
          <p:cNvCxnSpPr>
            <a:stCxn xmlns:a="http://schemas.openxmlformats.org/drawingml/2006/main" id="9" idx="2"/>
            <a:endCxn xmlns:a="http://schemas.openxmlformats.org/drawingml/2006/main" id="33" idx="0"/>
          </p:cNvCxnSpPr>
          <p:nvPr/>
        </p:nvCxnSpPr>
        <p:spPr>
          <a:xfrm xmlns:a="http://schemas.openxmlformats.org/drawingml/2006/main">
            <a:off x="9015413" y="2257425"/>
            <a:ext cx="1233488" cy="533400"/>
          </a:xfrm>
          <a:prstGeom xmlns:a="http://schemas.openxmlformats.org/drawingml/2006/main" prst="bentConnector4">
            <a:avLst>
              <a:gd name="adj1" fmla="val 0"/>
              <a:gd name="adj2" fmla="val 50000"/>
            </a:avLst>
          </a:prstGeom>
          <a:ln xmlns:a="http://schemas.openxmlformats.org/drawingml/2006/main" w="17145">
            <a:solidFill>
              <a:srgbClr val="555C56"/>
            </a:solidFill>
            <a:prstDash val="dash"/>
            <a:tailEnd type="triangle" w="sm" len="sm"/>
          </a:ln>
        </p:spPr>
      </p:cxnSp>
      <p:sp>
        <p:nvSpPr>
          <p:cNvPr id="40" name="Both process the same corpus">
            <a:extLst xmlns:a="http://schemas.openxmlformats.org/drawingml/2006/main">
              <a:ext uri="{FF2B5EF4-FFF2-40B4-BE49-F238E27FC236}">
                <a16:creationId xmlns:a16="http://schemas.microsoft.com/office/drawing/2014/main" id="{7A5EA7EB-C9D2-42F8-9C68-D982CA01A257}"/>
              </a:ext>
            </a:extLst>
          </p:cNvPr>
          <p:cNvSpPr>
            <a:spLocks xmlns:a="http://schemas.openxmlformats.org/drawingml/2006/main" noGrp="1"/>
          </p:cNvSpPr>
          <p:nvPr/>
        </p:nvSpPr>
        <p:spPr>
          <a:xfrm xmlns:a="http://schemas.openxmlformats.org/drawingml/2006/main">
            <a:off x="466725" y="2447925"/>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26B12"/>
                </a:solidFill>
                <a:latin typeface="Arial"/>
                <a:ea typeface="Arial"/>
                <a:cs typeface="Arial"/>
              </a:defRPr>
            </a:pPr>
            <a:r>
              <a:rPr sz="1425" b="1">
                <a:solidFill>
                  <a:srgbClr val="426B12"/>
                </a:solidFill>
                <a:latin typeface="Arial"/>
                <a:ea typeface="Arial"/>
                <a:cs typeface="Arial"/>
              </a:rPr>
              <a:t>Both process the same corpus</a:t>
            </a:r>
          </a:p>
        </p:txBody>
      </p:sp>
      <p:cxnSp>
        <p:nvCxnSpPr>
          <p:cNvPr id="101" name=""/>
          <p:cNvCxnSpPr>
            <a:stCxn xmlns:a="http://schemas.openxmlformats.org/drawingml/2006/main" id="33" idx="1"/>
            <a:endCxn xmlns:a="http://schemas.openxmlformats.org/drawingml/2006/main" id="14" idx="3"/>
          </p:cNvCxnSpPr>
          <p:nvPr/>
        </p:nvCxnSpPr>
        <p:spPr>
          <a:xfrm xmlns:a="http://schemas.openxmlformats.org/drawingml/2006/main" flipH="1">
            <a:off x="7362825" y="3790950"/>
            <a:ext cx="1400175" cy="0"/>
          </a:xfrm>
          <a:prstGeom xmlns:a="http://schemas.openxmlformats.org/drawingml/2006/main" prst="straightConnector1">
            <a:avLst/>
          </a:prstGeom>
          <a:ln xmlns:a="http://schemas.openxmlformats.org/drawingml/2006/main" w="17145">
            <a:solidFill>
              <a:srgbClr val="426B12"/>
            </a:solidFill>
            <a:prstDash val="dash"/>
            <a:tailEnd type="triangle" w="sm" len="sm"/>
          </a:ln>
        </p:spPr>
      </p:cxnSp>
      <p:sp>
        <p:nvSpPr>
          <p:cNvPr id="42" name="Tags + IDs&#10;Graph context">
            <a:extLst xmlns:a="http://schemas.openxmlformats.org/drawingml/2006/main">
              <a:ext uri="{FF2B5EF4-FFF2-40B4-BE49-F238E27FC236}">
                <a16:creationId xmlns:a16="http://schemas.microsoft.com/office/drawing/2014/main" id="{66C666F5-BB06-4D1A-890E-1A1C5107D6D2}"/>
              </a:ext>
            </a:extLst>
          </p:cNvPr>
          <p:cNvSpPr>
            <a:spLocks xmlns:a="http://schemas.openxmlformats.org/drawingml/2006/main" noGrp="1"/>
          </p:cNvSpPr>
          <p:nvPr/>
        </p:nvSpPr>
        <p:spPr>
          <a:xfrm xmlns:a="http://schemas.openxmlformats.org/drawingml/2006/main">
            <a:off x="7419975" y="3219450"/>
            <a:ext cx="13049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426B12"/>
                </a:solidFill>
                <a:latin typeface="Arial"/>
                <a:ea typeface="Arial"/>
                <a:cs typeface="Arial"/>
              </a:defRPr>
            </a:pPr>
            <a:r>
              <a:rPr sz="1350" b="0">
                <a:solidFill>
                  <a:srgbClr val="426B12"/>
                </a:solidFill>
                <a:latin typeface="Arial"/>
                <a:ea typeface="Arial"/>
                <a:cs typeface="Arial"/>
              </a:rPr>
              <a:t>Tags + IDs</a:t>
            </a:r>
          </a:p>
          <a:p xmlns:a="http://schemas.openxmlformats.org/drawingml/2006/main">
            <a:pPr algn="ctr">
              <a:defRPr sz="1350" b="0">
                <a:solidFill>
                  <a:srgbClr val="426B12"/>
                </a:solidFill>
                <a:latin typeface="Arial"/>
                <a:ea typeface="Arial"/>
                <a:cs typeface="Arial"/>
              </a:defRPr>
            </a:pPr>
            <a:r>
              <a:rPr sz="1350" b="0">
                <a:solidFill>
                  <a:srgbClr val="426B12"/>
                </a:solidFill>
                <a:latin typeface="Arial"/>
                <a:ea typeface="Arial"/>
                <a:cs typeface="Arial"/>
              </a:rPr>
              <a:t>Graph context</a:t>
            </a:r>
          </a:p>
        </p:txBody>
      </p:sp>
      <p:sp>
        <p:nvSpPr>
          <p:cNvPr id="43" name="Hybrid search and base relationships">
            <a:extLst xmlns:a="http://schemas.openxmlformats.org/drawingml/2006/main">
              <a:ext uri="{FF2B5EF4-FFF2-40B4-BE49-F238E27FC236}">
                <a16:creationId xmlns:a16="http://schemas.microsoft.com/office/drawing/2014/main" id="{CE217207-92F1-441D-8432-D6886E887BCD}"/>
              </a:ext>
            </a:extLst>
          </p:cNvPr>
          <p:cNvSpPr>
            <a:spLocks xmlns:a="http://schemas.openxmlformats.org/drawingml/2006/main" noGrp="1"/>
          </p:cNvSpPr>
          <p:nvPr/>
        </p:nvSpPr>
        <p:spPr>
          <a:xfrm xmlns:a="http://schemas.openxmlformats.org/drawingml/2006/main">
            <a:off x="457200" y="5105400"/>
            <a:ext cx="3543300" cy="1000125"/>
          </a:xfrm>
          <a:prstGeom xmlns:a="http://schemas.openxmlformats.org/drawingml/2006/main" prst="rect">
            <a:avLst/>
          </a:prstGeom>
          <a:solidFill xmlns:a="http://schemas.openxmlformats.org/drawingml/2006/main">
            <a:srgbClr val="F4F5F2"/>
          </a:solidFill>
          <a:ln xmlns:a="http://schemas.openxmlformats.org/drawingml/2006/main" w="9525">
            <a:solidFill>
              <a:srgbClr val="D7DDD2"/>
            </a:solidFill>
            <a:prstDash val="solid"/>
          </a:ln>
        </p:spPr>
      </p:sp>
      <p:sp>
        <p:nvSpPr>
          <p:cNvPr id="44" name="Hybrid search">
            <a:extLst xmlns:a="http://schemas.openxmlformats.org/drawingml/2006/main">
              <a:ext uri="{FF2B5EF4-FFF2-40B4-BE49-F238E27FC236}">
                <a16:creationId xmlns:a16="http://schemas.microsoft.com/office/drawing/2014/main" id="{70632AEE-611D-4B08-AC5D-CED1C5CCDEB3}"/>
              </a:ext>
            </a:extLst>
          </p:cNvPr>
          <p:cNvSpPr>
            <a:spLocks xmlns:a="http://schemas.openxmlformats.org/drawingml/2006/main" noGrp="1"/>
          </p:cNvSpPr>
          <p:nvPr/>
        </p:nvSpPr>
        <p:spPr>
          <a:xfrm xmlns:a="http://schemas.openxmlformats.org/drawingml/2006/main">
            <a:off x="628650" y="5229225"/>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5"/>
                </a:solidFill>
                <a:latin typeface="Arial"/>
                <a:ea typeface="Arial"/>
                <a:cs typeface="Arial"/>
              </a:defRPr>
            </a:pPr>
            <a:r>
              <a:rPr sz="1800" b="1">
                <a:solidFill>
                  <a:srgbClr val="151715"/>
                </a:solidFill>
                <a:latin typeface="Arial"/>
                <a:ea typeface="Arial"/>
                <a:cs typeface="Arial"/>
              </a:rPr>
              <a:t>Hybrid search</a:t>
            </a:r>
          </a:p>
        </p:txBody>
      </p:sp>
      <p:sp>
        <p:nvSpPr>
          <p:cNvPr id="45" name="PostgreSQL + pgvector">
            <a:extLst xmlns:a="http://schemas.openxmlformats.org/drawingml/2006/main">
              <a:ext uri="{FF2B5EF4-FFF2-40B4-BE49-F238E27FC236}">
                <a16:creationId xmlns:a16="http://schemas.microsoft.com/office/drawing/2014/main" id="{C10D114D-7852-48B8-8814-CDE1D7D3128C}"/>
              </a:ext>
            </a:extLst>
          </p:cNvPr>
          <p:cNvSpPr>
            <a:spLocks xmlns:a="http://schemas.openxmlformats.org/drawingml/2006/main" noGrp="1"/>
          </p:cNvSpPr>
          <p:nvPr/>
        </p:nvSpPr>
        <p:spPr>
          <a:xfrm xmlns:a="http://schemas.openxmlformats.org/drawingml/2006/main">
            <a:off x="628650" y="554355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51715"/>
                </a:solidFill>
                <a:latin typeface="Arial"/>
                <a:ea typeface="Arial"/>
                <a:cs typeface="Arial"/>
              </a:defRPr>
            </a:pPr>
            <a:r>
              <a:rPr sz="1575" b="0">
                <a:solidFill>
                  <a:srgbClr val="151715"/>
                </a:solidFill>
                <a:latin typeface="Arial"/>
                <a:ea typeface="Arial"/>
                <a:cs typeface="Arial"/>
              </a:rPr>
              <a:t>PostgreSQL + pgvector</a:t>
            </a:r>
          </a:p>
        </p:txBody>
      </p:sp>
      <p:sp>
        <p:nvSpPr>
          <p:cNvPr id="46" name="Source + curated pages, SQL base graph¹">
            <a:extLst xmlns:a="http://schemas.openxmlformats.org/drawingml/2006/main">
              <a:ext uri="{FF2B5EF4-FFF2-40B4-BE49-F238E27FC236}">
                <a16:creationId xmlns:a16="http://schemas.microsoft.com/office/drawing/2014/main" id="{287173D0-8164-4235-86E5-B35657063672}"/>
              </a:ext>
            </a:extLst>
          </p:cNvPr>
          <p:cNvSpPr>
            <a:spLocks xmlns:a="http://schemas.openxmlformats.org/drawingml/2006/main" noGrp="1"/>
          </p:cNvSpPr>
          <p:nvPr/>
        </p:nvSpPr>
        <p:spPr>
          <a:xfrm xmlns:a="http://schemas.openxmlformats.org/drawingml/2006/main">
            <a:off x="628650" y="5838825"/>
            <a:ext cx="3190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55C56"/>
                </a:solidFill>
                <a:latin typeface="Arial"/>
                <a:ea typeface="Arial"/>
                <a:cs typeface="Arial"/>
              </a:defRPr>
            </a:pPr>
            <a:r>
              <a:rPr sz="1275" b="0">
                <a:solidFill>
                  <a:srgbClr val="555C56"/>
                </a:solidFill>
                <a:latin typeface="Arial"/>
                <a:ea typeface="Arial"/>
                <a:cs typeface="Arial"/>
              </a:rPr>
              <a:t>Source + curated pages, SQL base graph¹</a:t>
            </a:r>
          </a:p>
        </p:txBody>
      </p:sp>
      <p:sp>
        <p:nvSpPr>
          <p:cNvPr id="47" name="Shared Knowledge API and MCP">
            <a:extLst xmlns:a="http://schemas.openxmlformats.org/drawingml/2006/main">
              <a:ext uri="{FF2B5EF4-FFF2-40B4-BE49-F238E27FC236}">
                <a16:creationId xmlns:a16="http://schemas.microsoft.com/office/drawing/2014/main" id="{8F7764F2-2100-4D6D-BC3C-D023BA8E8B5E}"/>
              </a:ext>
            </a:extLst>
          </p:cNvPr>
          <p:cNvSpPr>
            <a:spLocks xmlns:a="http://schemas.openxmlformats.org/drawingml/2006/main" noGrp="1"/>
          </p:cNvSpPr>
          <p:nvPr/>
        </p:nvSpPr>
        <p:spPr>
          <a:xfrm xmlns:a="http://schemas.openxmlformats.org/drawingml/2006/main">
            <a:off x="4400550" y="5105400"/>
            <a:ext cx="3124200" cy="1000125"/>
          </a:xfrm>
          <a:prstGeom xmlns:a="http://schemas.openxmlformats.org/drawingml/2006/main" prst="rect">
            <a:avLst/>
          </a:prstGeom>
          <a:solidFill xmlns:a="http://schemas.openxmlformats.org/drawingml/2006/main">
            <a:srgbClr val="F0F6E8"/>
          </a:solidFill>
          <a:ln xmlns:a="http://schemas.openxmlformats.org/drawingml/2006/main" w="9525">
            <a:solidFill>
              <a:srgbClr val="86BC25"/>
            </a:solidFill>
            <a:prstDash val="solid"/>
          </a:ln>
        </p:spPr>
      </p:sp>
      <p:sp>
        <p:nvSpPr>
          <p:cNvPr id="48" name="Knowledge API">
            <a:extLst xmlns:a="http://schemas.openxmlformats.org/drawingml/2006/main">
              <a:ext uri="{FF2B5EF4-FFF2-40B4-BE49-F238E27FC236}">
                <a16:creationId xmlns:a16="http://schemas.microsoft.com/office/drawing/2014/main" id="{67EDD192-9095-43A4-8D64-DBB7E55D795C}"/>
              </a:ext>
            </a:extLst>
          </p:cNvPr>
          <p:cNvSpPr>
            <a:spLocks xmlns:a="http://schemas.openxmlformats.org/drawingml/2006/main" noGrp="1"/>
          </p:cNvSpPr>
          <p:nvPr/>
        </p:nvSpPr>
        <p:spPr>
          <a:xfrm xmlns:a="http://schemas.openxmlformats.org/drawingml/2006/main">
            <a:off x="4572000" y="5229225"/>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5"/>
                </a:solidFill>
                <a:latin typeface="Arial"/>
                <a:ea typeface="Arial"/>
                <a:cs typeface="Arial"/>
              </a:defRPr>
            </a:pPr>
            <a:r>
              <a:rPr sz="1800" b="1">
                <a:solidFill>
                  <a:srgbClr val="151715"/>
                </a:solidFill>
                <a:latin typeface="Arial"/>
                <a:ea typeface="Arial"/>
                <a:cs typeface="Arial"/>
              </a:rPr>
              <a:t>Knowledge API</a:t>
            </a:r>
          </a:p>
        </p:txBody>
      </p:sp>
      <p:sp>
        <p:nvSpPr>
          <p:cNvPr id="49" name="FastAPI + FastMCP">
            <a:extLst xmlns:a="http://schemas.openxmlformats.org/drawingml/2006/main">
              <a:ext uri="{FF2B5EF4-FFF2-40B4-BE49-F238E27FC236}">
                <a16:creationId xmlns:a16="http://schemas.microsoft.com/office/drawing/2014/main" id="{B78A79DE-DCD7-4B41-A48C-E54894D3E45A}"/>
              </a:ext>
            </a:extLst>
          </p:cNvPr>
          <p:cNvSpPr>
            <a:spLocks xmlns:a="http://schemas.openxmlformats.org/drawingml/2006/main" noGrp="1"/>
          </p:cNvSpPr>
          <p:nvPr/>
        </p:nvSpPr>
        <p:spPr>
          <a:xfrm xmlns:a="http://schemas.openxmlformats.org/drawingml/2006/main">
            <a:off x="4572000" y="5543550"/>
            <a:ext cx="2781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51715"/>
                </a:solidFill>
                <a:latin typeface="Arial"/>
                <a:ea typeface="Arial"/>
                <a:cs typeface="Arial"/>
              </a:defRPr>
            </a:pPr>
            <a:r>
              <a:rPr sz="1575" b="0">
                <a:solidFill>
                  <a:srgbClr val="151715"/>
                </a:solidFill>
                <a:latin typeface="Arial"/>
                <a:ea typeface="Arial"/>
                <a:cs typeface="Arial"/>
              </a:rPr>
              <a:t>FastAPI + FastMCP</a:t>
            </a:r>
          </a:p>
        </p:txBody>
      </p:sp>
      <p:sp>
        <p:nvSpPr>
          <p:cNvPr id="50" name="Evidence and update proposals">
            <a:extLst xmlns:a="http://schemas.openxmlformats.org/drawingml/2006/main">
              <a:ext uri="{FF2B5EF4-FFF2-40B4-BE49-F238E27FC236}">
                <a16:creationId xmlns:a16="http://schemas.microsoft.com/office/drawing/2014/main" id="{20D7EE4F-6C98-4851-8F9E-A043A7DED14D}"/>
              </a:ext>
            </a:extLst>
          </p:cNvPr>
          <p:cNvSpPr>
            <a:spLocks xmlns:a="http://schemas.openxmlformats.org/drawingml/2006/main" noGrp="1"/>
          </p:cNvSpPr>
          <p:nvPr/>
        </p:nvSpPr>
        <p:spPr>
          <a:xfrm xmlns:a="http://schemas.openxmlformats.org/drawingml/2006/main">
            <a:off x="4572000" y="5838825"/>
            <a:ext cx="2781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55C56"/>
                </a:solidFill>
                <a:latin typeface="Arial"/>
                <a:ea typeface="Arial"/>
                <a:cs typeface="Arial"/>
              </a:defRPr>
            </a:pPr>
            <a:r>
              <a:rPr sz="1275" b="0">
                <a:solidFill>
                  <a:srgbClr val="555C56"/>
                </a:solidFill>
                <a:latin typeface="Arial"/>
                <a:ea typeface="Arial"/>
                <a:cs typeface="Arial"/>
              </a:rPr>
              <a:t>Evidence and update proposals</a:t>
            </a:r>
          </a:p>
        </p:txBody>
      </p:sp>
      <p:sp>
        <p:nvSpPr>
          <p:cNvPr id="51" name="Use by people and agents">
            <a:extLst xmlns:a="http://schemas.openxmlformats.org/drawingml/2006/main">
              <a:ext uri="{FF2B5EF4-FFF2-40B4-BE49-F238E27FC236}">
                <a16:creationId xmlns:a16="http://schemas.microsoft.com/office/drawing/2014/main" id="{2FC23521-C536-47B5-823A-E81C9578304B}"/>
              </a:ext>
            </a:extLst>
          </p:cNvPr>
          <p:cNvSpPr>
            <a:spLocks xmlns:a="http://schemas.openxmlformats.org/drawingml/2006/main" noGrp="1"/>
          </p:cNvSpPr>
          <p:nvPr/>
        </p:nvSpPr>
        <p:spPr>
          <a:xfrm xmlns:a="http://schemas.openxmlformats.org/drawingml/2006/main">
            <a:off x="7924800" y="5105400"/>
            <a:ext cx="3810000" cy="1000125"/>
          </a:xfrm>
          <a:prstGeom xmlns:a="http://schemas.openxmlformats.org/drawingml/2006/main" prst="rect">
            <a:avLst/>
          </a:prstGeom>
          <a:solidFill xmlns:a="http://schemas.openxmlformats.org/drawingml/2006/main">
            <a:srgbClr val="F4F5F2"/>
          </a:solidFill>
          <a:ln xmlns:a="http://schemas.openxmlformats.org/drawingml/2006/main" w="9525">
            <a:solidFill>
              <a:srgbClr val="D7DDD2"/>
            </a:solidFill>
            <a:prstDash val="solid"/>
          </a:ln>
        </p:spPr>
      </p:sp>
      <p:sp>
        <p:nvSpPr>
          <p:cNvPr id="52" name="People and agents">
            <a:extLst xmlns:a="http://schemas.openxmlformats.org/drawingml/2006/main">
              <a:ext uri="{FF2B5EF4-FFF2-40B4-BE49-F238E27FC236}">
                <a16:creationId xmlns:a16="http://schemas.microsoft.com/office/drawing/2014/main" id="{75349612-56F7-439D-9298-4741EAF0F391}"/>
              </a:ext>
            </a:extLst>
          </p:cNvPr>
          <p:cNvSpPr>
            <a:spLocks xmlns:a="http://schemas.openxmlformats.org/drawingml/2006/main" noGrp="1"/>
          </p:cNvSpPr>
          <p:nvPr/>
        </p:nvSpPr>
        <p:spPr>
          <a:xfrm xmlns:a="http://schemas.openxmlformats.org/drawingml/2006/main">
            <a:off x="8096250" y="5229225"/>
            <a:ext cx="346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5"/>
                </a:solidFill>
                <a:latin typeface="Arial"/>
                <a:ea typeface="Arial"/>
                <a:cs typeface="Arial"/>
              </a:defRPr>
            </a:pPr>
            <a:r>
              <a:rPr sz="1800" b="1">
                <a:solidFill>
                  <a:srgbClr val="151715"/>
                </a:solidFill>
                <a:latin typeface="Arial"/>
                <a:ea typeface="Arial"/>
                <a:cs typeface="Arial"/>
              </a:rPr>
              <a:t>People and agents</a:t>
            </a:r>
          </a:p>
        </p:txBody>
      </p:sp>
      <p:sp>
        <p:nvSpPr>
          <p:cNvPr id="53" name="Wiki and cited research">
            <a:extLst xmlns:a="http://schemas.openxmlformats.org/drawingml/2006/main">
              <a:ext uri="{FF2B5EF4-FFF2-40B4-BE49-F238E27FC236}">
                <a16:creationId xmlns:a16="http://schemas.microsoft.com/office/drawing/2014/main" id="{FD50B8F8-F15E-4258-9D8A-0B8F4B0912AE}"/>
              </a:ext>
            </a:extLst>
          </p:cNvPr>
          <p:cNvSpPr>
            <a:spLocks xmlns:a="http://schemas.openxmlformats.org/drawingml/2006/main" noGrp="1"/>
          </p:cNvSpPr>
          <p:nvPr/>
        </p:nvSpPr>
        <p:spPr>
          <a:xfrm xmlns:a="http://schemas.openxmlformats.org/drawingml/2006/main">
            <a:off x="8096250" y="5562600"/>
            <a:ext cx="3467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63" b="0">
                <a:solidFill>
                  <a:srgbClr val="151715"/>
                </a:solidFill>
                <a:latin typeface="Arial"/>
                <a:ea typeface="Arial"/>
                <a:cs typeface="Arial"/>
              </a:defRPr>
            </a:pPr>
            <a:r>
              <a:rPr sz="1463" b="0">
                <a:solidFill>
                  <a:srgbClr val="151715"/>
                </a:solidFill>
                <a:latin typeface="Arial"/>
                <a:ea typeface="Arial"/>
                <a:cs typeface="Arial"/>
              </a:rPr>
              <a:t>Wiki and cited research</a:t>
            </a:r>
          </a:p>
        </p:txBody>
      </p:sp>
      <p:sp>
        <p:nvSpPr>
          <p:cNvPr id="54" name="Agent platform of your choice">
            <a:extLst xmlns:a="http://schemas.openxmlformats.org/drawingml/2006/main">
              <a:ext uri="{FF2B5EF4-FFF2-40B4-BE49-F238E27FC236}">
                <a16:creationId xmlns:a16="http://schemas.microsoft.com/office/drawing/2014/main" id="{54837208-53DC-4D08-8F55-3BA4AAC7C3A6}"/>
              </a:ext>
            </a:extLst>
          </p:cNvPr>
          <p:cNvSpPr>
            <a:spLocks xmlns:a="http://schemas.openxmlformats.org/drawingml/2006/main" noGrp="1"/>
          </p:cNvSpPr>
          <p:nvPr/>
        </p:nvSpPr>
        <p:spPr>
          <a:xfrm xmlns:a="http://schemas.openxmlformats.org/drawingml/2006/main">
            <a:off x="8096250" y="5838825"/>
            <a:ext cx="3467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55C56"/>
                </a:solidFill>
                <a:latin typeface="Arial"/>
                <a:ea typeface="Arial"/>
                <a:cs typeface="Arial"/>
              </a:defRPr>
            </a:pPr>
            <a:r>
              <a:rPr sz="1350" b="0">
                <a:solidFill>
                  <a:srgbClr val="555C56"/>
                </a:solidFill>
                <a:latin typeface="Arial"/>
                <a:ea typeface="Arial"/>
                <a:cs typeface="Arial"/>
              </a:rPr>
              <a:t>Agent platform of your choice</a:t>
            </a:r>
          </a:p>
        </p:txBody>
      </p:sp>
      <p:cxnSp>
        <p:nvCxnSpPr>
          <p:cNvPr id="115" name=""/>
          <p:cNvCxnSpPr>
            <a:stCxn xmlns:a="http://schemas.openxmlformats.org/drawingml/2006/main" id="14" idx="2"/>
            <a:endCxn xmlns:a="http://schemas.openxmlformats.org/drawingml/2006/main" id="43" idx="0"/>
          </p:cNvCxnSpPr>
          <p:nvPr/>
        </p:nvCxnSpPr>
        <p:spPr>
          <a:xfrm xmlns:a="http://schemas.openxmlformats.org/drawingml/2006/main" flipH="1">
            <a:off x="2228850" y="4791075"/>
            <a:ext cx="1681163" cy="314325"/>
          </a:xfrm>
          <a:prstGeom xmlns:a="http://schemas.openxmlformats.org/drawingml/2006/main" prst="bentConnector4">
            <a:avLst>
              <a:gd name="adj1" fmla="val 0"/>
              <a:gd name="adj2" fmla="val 50000"/>
            </a:avLst>
          </a:prstGeom>
          <a:ln xmlns:a="http://schemas.openxmlformats.org/drawingml/2006/main" w="17145">
            <a:solidFill>
              <a:srgbClr val="555C56"/>
            </a:solidFill>
            <a:prstDash val="solid"/>
            <a:tailEnd type="triangle" w="sm" len="sm"/>
          </a:ln>
        </p:spPr>
      </p:cxnSp>
      <p:cxnSp>
        <p:nvCxnSpPr>
          <p:cNvPr id="116" name=""/>
          <p:cNvCxnSpPr>
            <a:stCxn xmlns:a="http://schemas.openxmlformats.org/drawingml/2006/main" id="33" idx="2"/>
            <a:endCxn xmlns:a="http://schemas.openxmlformats.org/drawingml/2006/main" id="47" idx="0"/>
          </p:cNvCxnSpPr>
          <p:nvPr/>
        </p:nvCxnSpPr>
        <p:spPr>
          <a:xfrm xmlns:a="http://schemas.openxmlformats.org/drawingml/2006/main" flipH="1">
            <a:off x="5962650" y="4791075"/>
            <a:ext cx="4286250" cy="314325"/>
          </a:xfrm>
          <a:prstGeom xmlns:a="http://schemas.openxmlformats.org/drawingml/2006/main" prst="bentConnector4">
            <a:avLst>
              <a:gd name="adj1" fmla="val 0"/>
              <a:gd name="adj2" fmla="val 50000"/>
            </a:avLst>
          </a:prstGeom>
          <a:ln xmlns:a="http://schemas.openxmlformats.org/drawingml/2006/main" w="17145">
            <a:solidFill>
              <a:srgbClr val="555C56"/>
            </a:solidFill>
            <a:prstDash val="dash"/>
            <a:tailEnd type="triangle" w="sm" len="sm"/>
          </a:ln>
        </p:spPr>
      </p:cxnSp>
      <p:cxnSp>
        <p:nvCxnSpPr>
          <p:cNvPr id="117" name=""/>
          <p:cNvCxnSpPr>
            <a:stCxn xmlns:a="http://schemas.openxmlformats.org/drawingml/2006/main" id="43" idx="3"/>
            <a:endCxn xmlns:a="http://schemas.openxmlformats.org/drawingml/2006/main" id="47" idx="1"/>
          </p:cNvCxnSpPr>
          <p:nvPr/>
        </p:nvCxnSpPr>
        <p:spPr>
          <a:xfrm xmlns:a="http://schemas.openxmlformats.org/drawingml/2006/main">
            <a:off x="4000500" y="5605463"/>
            <a:ext cx="400050" cy="0"/>
          </a:xfrm>
          <a:prstGeom xmlns:a="http://schemas.openxmlformats.org/drawingml/2006/main" prst="straightConnector1">
            <a:avLst/>
          </a:prstGeom>
          <a:ln xmlns:a="http://schemas.openxmlformats.org/drawingml/2006/main" w="17145">
            <a:solidFill>
              <a:srgbClr val="555C56"/>
            </a:solidFill>
            <a:prstDash val="solid"/>
            <a:tailEnd type="triangle" w="sm" len="sm"/>
          </a:ln>
        </p:spPr>
      </p:cxnSp>
      <p:cxnSp>
        <p:nvCxnSpPr>
          <p:cNvPr id="118" name=""/>
          <p:cNvCxnSpPr>
            <a:stCxn xmlns:a="http://schemas.openxmlformats.org/drawingml/2006/main" id="47" idx="3"/>
            <a:endCxn xmlns:a="http://schemas.openxmlformats.org/drawingml/2006/main" id="51" idx="1"/>
          </p:cNvCxnSpPr>
          <p:nvPr/>
        </p:nvCxnSpPr>
        <p:spPr>
          <a:xfrm xmlns:a="http://schemas.openxmlformats.org/drawingml/2006/main">
            <a:off x="7524750" y="5605463"/>
            <a:ext cx="400050" cy="0"/>
          </a:xfrm>
          <a:prstGeom xmlns:a="http://schemas.openxmlformats.org/drawingml/2006/main" prst="straightConnector1">
            <a:avLst/>
          </a:prstGeom>
          <a:ln xmlns:a="http://schemas.openxmlformats.org/drawingml/2006/main" w="17145">
            <a:solidFill>
              <a:srgbClr val="555C56"/>
            </a:solidFill>
            <a:prstDash val="solid"/>
            <a:tailEnd type="triangle" w="sm" len="sm"/>
          </a:ln>
        </p:spPr>
      </p:cxnSp>
      <p:sp>
        <p:nvSpPr>
          <p:cNvPr id="59" name="Domain approval, source evidence and permissions apply">
            <a:extLst xmlns:a="http://schemas.openxmlformats.org/drawingml/2006/main">
              <a:ext uri="{FF2B5EF4-FFF2-40B4-BE49-F238E27FC236}">
                <a16:creationId xmlns:a16="http://schemas.microsoft.com/office/drawing/2014/main" id="{DBA55494-A4BF-4585-A00E-89393A128056}"/>
              </a:ext>
            </a:extLst>
          </p:cNvPr>
          <p:cNvSpPr>
            <a:spLocks xmlns:a="http://schemas.openxmlformats.org/drawingml/2006/main" noGrp="1"/>
          </p:cNvSpPr>
          <p:nvPr/>
        </p:nvSpPr>
        <p:spPr>
          <a:xfrm xmlns:a="http://schemas.openxmlformats.org/drawingml/2006/main">
            <a:off x="457200" y="628650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426B12"/>
                </a:solidFill>
                <a:latin typeface="Arial"/>
                <a:ea typeface="Arial"/>
                <a:cs typeface="Arial"/>
              </a:defRPr>
            </a:pPr>
            <a:r>
              <a:rPr sz="1500" b="1">
                <a:solidFill>
                  <a:srgbClr val="426B12"/>
                </a:solidFill>
                <a:latin typeface="Arial"/>
                <a:ea typeface="Arial"/>
                <a:cs typeface="Arial"/>
              </a:rPr>
              <a:t>Domain approval, source evidence and permissions apply to wiki, search and graph.</a:t>
            </a:r>
          </a:p>
        </p:txBody>
      </p:sp>
      <p:sp>
        <p:nvSpPr>
          <p:cNvPr id="60" name="Linux PoC with local models. ¹Base graph without Graphw">
            <a:extLst xmlns:a="http://schemas.openxmlformats.org/drawingml/2006/main">
              <a:ext uri="{FF2B5EF4-FFF2-40B4-BE49-F238E27FC236}">
                <a16:creationId xmlns:a16="http://schemas.microsoft.com/office/drawing/2014/main" id="{F20840A5-7ABA-49B0-A8D2-B9CED188E100}"/>
              </a:ext>
            </a:extLst>
          </p:cNvPr>
          <p:cNvSpPr>
            <a:spLocks xmlns:a="http://schemas.openxmlformats.org/drawingml/2006/main" noGrp="1"/>
          </p:cNvSpPr>
          <p:nvPr/>
        </p:nvSpPr>
        <p:spPr>
          <a:xfrm xmlns:a="http://schemas.openxmlformats.org/drawingml/2006/main">
            <a:off x="457200" y="6591300"/>
            <a:ext cx="1127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8" b="0">
                <a:solidFill>
                  <a:srgbClr val="555C56"/>
                </a:solidFill>
                <a:latin typeface="Arial"/>
                <a:ea typeface="Arial"/>
                <a:cs typeface="Arial"/>
              </a:defRPr>
            </a:pPr>
            <a:r>
              <a:rPr sz="1088" b="0">
                <a:solidFill>
                  <a:srgbClr val="555C56"/>
                </a:solidFill>
                <a:latin typeface="Arial"/>
                <a:ea typeface="Arial"/>
                <a:cs typeface="Arial"/>
              </a:rPr>
              <a:t>Linux PoC with local models. ¹Base graph without Graphwise. Graphwise modules, licences and local operation to be confirmed jointly.</a:t>
            </a:r>
          </a:p>
        </p:txBody>
      </p:sp>
    </p:spTree>
    <p:extLst>
      <p:ext uri="{BB962C8B-B14F-4D97-AF65-F5344CB8AC3E}">
        <p14:creationId xmlns:p14="http://schemas.microsoft.com/office/powerpoint/2010/main" val="927437922"/>
      </p:ext>
    </p:extLst>
  </p:cSld>
</p:sld>
</file>

<file path=ppt/theme/theme1.xml><?xml version="1.0" encoding="utf-8"?>
<a:theme xmlns:a="http://schemas.openxmlformats.org/drawingml/2006/main" name="ChatGPT">
  <a:themeElements>
    <a:clrScheme name="Daiichi Knowledge Architecture">
      <a:dk1>
        <a:srgbClr val="151715"/>
      </a:dk1>
      <a:lt1>
        <a:srgbClr val="FFFFFF"/>
      </a:lt1>
      <a:dk2>
        <a:srgbClr val="555C56"/>
      </a:dk2>
      <a:lt2>
        <a:srgbClr val="F4F5F2"/>
      </a:lt2>
      <a:accent1>
        <a:srgbClr val="86BC25"/>
      </a:accent1>
      <a:accent2>
        <a:srgbClr val="426B12"/>
      </a:accent2>
      <a:accent3>
        <a:srgbClr val="6D7B61"/>
      </a:accent3>
      <a:accent4>
        <a:srgbClr val="D4E6BF"/>
      </a:accent4>
      <a:accent5>
        <a:srgbClr val="555C56"/>
      </a:accent5>
      <a:accent6>
        <a:srgbClr val="B9C7AB"/>
      </a:accent6>
      <a:hlink>
        <a:srgbClr val="426B12"/>
      </a:hlink>
      <a:folHlink>
        <a:srgbClr val="426B12"/>
      </a:folHlink>
    </a:clrScheme>
    <a:fontScheme name="Office">
      <a:majorFont>
        <a:latin typeface="Calibri Light"/>
        <a:ea typeface="Calibri Light"/>
        <a:cs typeface="Calibri Light"/>
      </a:majorFont>
      <a:minorFont>
        <a:latin typeface="Calibri"/>
        <a:ea typeface="Calibri"/>
        <a:cs typeface="Calibri"/>
      </a:minorFont>
    </a:fontScheme>
    <a:fmtScheme name="Daiichi Knowledge Archit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2026-09-18T11:00:57.0920000Z</dcterms:created>
  <dcterms:modified xsi:type="dcterms:W3CDTF">2026-09-18T11:00:57.0920000Z</dcterms:modified>
</coreProperties>
</file>